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Oct 13 Joint Meeting.pptx, slides 2-9.
- Program Management Expectations.docx, lines 2-24.
- Expectations High Level.docx, lines 1-15.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3746"/>
          </a:solidFill>
          <a:ln w="12700">
            <a:solidFill>
              <a:srgbClr val="2437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6A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PUBLISHING SERVICES DEPARTMENT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654710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6A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+ ACCOUNT MANAGEMENT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A77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A77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170432" cy="283464"/>
          </a:xfrm>
          <a:prstGeom prst="roundRect">
            <a:avLst>
              <a:gd name="adj" fmla="val 38710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" y="38404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CLARITY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client. Two lenses. One aligned plan.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978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Management owns the relationship and client narrative. Program Management owns the operational path to delivery.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064" y="1709928"/>
            <a:ext cx="4096512" cy="3255264"/>
          </a:xfrm>
          <a:prstGeom prst="roundRect">
            <a:avLst>
              <a:gd name="adj" fmla="val 3371"/>
            </a:avLst>
          </a:prstGeom>
          <a:solidFill>
            <a:srgbClr val="FFF0E7"/>
          </a:solidFill>
          <a:ln w="12700">
            <a:solidFill>
              <a:srgbClr val="FFF0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33488" y="1709928"/>
            <a:ext cx="4343400" cy="3255264"/>
          </a:xfrm>
          <a:prstGeom prst="roundRect">
            <a:avLst>
              <a:gd name="adj" fmla="val 3371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2029968"/>
            <a:ext cx="2249424" cy="2523744"/>
          </a:xfrm>
          <a:prstGeom prst="roundRect">
            <a:avLst>
              <a:gd name="adj" fmla="val 4878"/>
            </a:avLst>
          </a:prstGeom>
          <a:solidFill>
            <a:srgbClr val="F2EDF7"/>
          </a:solidFill>
          <a:ln w="12700">
            <a:solidFill>
              <a:srgbClr val="D8C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" y="1938528"/>
            <a:ext cx="457200" cy="457200"/>
          </a:xfrm>
          <a:prstGeom prst="ellipse">
            <a:avLst/>
          </a:prstGeom>
          <a:solidFill>
            <a:srgbClr val="E97832"/>
          </a:solidFill>
          <a:ln w="12700">
            <a:solidFill>
              <a:srgbClr val="E97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80744" y="18836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8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0744" y="2176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LENS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6384" y="2542032"/>
            <a:ext cx="3429000" cy="1572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Understands the client problem, outcomes and priorities</a:t>
            </a:r>
            <a:endParaRPr lang="en-US" sz="1150" dirty="0"/>
          </a:p>
          <a:p>
            <a:pPr marL="139700" indent="-139700">
              <a:buSzPct val="100000"/>
              <a:buChar char="•"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Frames and validates demand with the client</a:t>
            </a:r>
            <a:endParaRPr lang="en-US" sz="1150" dirty="0"/>
          </a:p>
          <a:p>
            <a:pPr marL="139700" indent="-139700">
              <a:buSzPct val="100000"/>
              <a:buChar char="•"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expectations, approvals and client-facing communication</a:t>
            </a:r>
            <a:endParaRPr lang="en-US" sz="1150" dirty="0"/>
          </a:p>
          <a:p>
            <a:pPr marL="139700" indent="-139700">
              <a:buSzPct val="100000"/>
              <a:buChar char="•"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Carries feedback, relationship context and annual priorities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" y="4288536"/>
            <a:ext cx="658368" cy="283464"/>
          </a:xfrm>
          <a:prstGeom prst="roundRect">
            <a:avLst>
              <a:gd name="adj" fmla="val 38710"/>
            </a:avLst>
          </a:prstGeom>
          <a:solidFill>
            <a:srgbClr val="E97832"/>
          </a:solidFill>
          <a:ln w="12700">
            <a:solidFill>
              <a:srgbClr val="E978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9536" y="4288536"/>
            <a:ext cx="512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72768" y="42519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E978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and prioritized demand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7598664" y="1938528"/>
            <a:ext cx="457200" cy="457200"/>
          </a:xfrm>
          <a:prstGeom prst="ellipse">
            <a:avLst/>
          </a:prstGeom>
          <a:solidFill>
            <a:srgbClr val="2E8791"/>
          </a:solidFill>
          <a:ln w="12700">
            <a:solidFill>
              <a:srgbClr val="2E87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9866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93024" y="18836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8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93024" y="2176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LENS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598664" y="2542032"/>
            <a:ext cx="3584448" cy="1572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feasibility, capacity, timing, dependencies and risk</a:t>
            </a:r>
            <a:endParaRPr lang="en-US" sz="1150" dirty="0"/>
          </a:p>
          <a:p>
            <a:pPr marL="139700" indent="-139700">
              <a:buSzPct val="100000"/>
              <a:buChar char="•"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the integrated program plan across projects and teams</a:t>
            </a:r>
            <a:endParaRPr lang="en-US" sz="1150" dirty="0"/>
          </a:p>
          <a:p>
            <a:pPr marL="139700" indent="-139700">
              <a:buSzPct val="100000"/>
              <a:buChar char="•"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Product decisions to Production with enough context</a:t>
            </a:r>
            <a:endParaRPr lang="en-US" sz="1150" dirty="0"/>
          </a:p>
          <a:p>
            <a:pPr marL="139700" indent="-139700">
              <a:buSzPct val="100000"/>
              <a:buChar char="•"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tradeoffs, changes, readiness and improvement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98664" y="4288536"/>
            <a:ext cx="658368" cy="283464"/>
          </a:xfrm>
          <a:prstGeom prst="roundRect">
            <a:avLst>
              <a:gd name="adj" fmla="val 38710"/>
            </a:avLst>
          </a:prstGeom>
          <a:solidFill>
            <a:srgbClr val="2E8791"/>
          </a:solidFill>
          <a:ln w="12700">
            <a:solidFill>
              <a:srgbClr val="2E87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71816" y="4288536"/>
            <a:ext cx="512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85048" y="42519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E8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and integrated delivery plan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5582412" y="2267712"/>
            <a:ext cx="777240" cy="777240"/>
          </a:xfrm>
          <a:prstGeom prst="ellipse">
            <a:avLst/>
          </a:prstGeom>
          <a:solidFill>
            <a:srgbClr val="76648E"/>
          </a:solidFill>
          <a:ln w="12700">
            <a:solidFill>
              <a:srgbClr val="7664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82412" y="22585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83480" y="3182112"/>
            <a:ext cx="1975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664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SPACE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5192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together early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65192" y="373075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on outcomes, options, risks and the right people to involve.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4489704" y="2862072"/>
            <a:ext cx="274320" cy="429768"/>
          </a:xfrm>
          <a:prstGeom prst="chevron">
            <a:avLst/>
          </a:prstGeom>
          <a:solidFill>
            <a:srgbClr val="E97832"/>
          </a:solidFill>
          <a:ln w="12700">
            <a:solidFill>
              <a:srgbClr val="E97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10800000">
            <a:off x="7150608" y="2862072"/>
            <a:ext cx="274320" cy="429768"/>
          </a:xfrm>
          <a:prstGeom prst="chevron">
            <a:avLst/>
          </a:prstGeom>
          <a:solidFill>
            <a:srgbClr val="2E8791"/>
          </a:solidFill>
          <a:ln w="12700">
            <a:solidFill>
              <a:srgbClr val="2E87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12064" y="5184648"/>
            <a:ext cx="11164824" cy="1078992"/>
          </a:xfrm>
          <a:prstGeom prst="roundRect">
            <a:avLst>
              <a:gd name="adj" fmla="val 10169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9808" y="537667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 GUARDRAIL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61488" y="5303520"/>
            <a:ext cx="8183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 can be discussed early. Commitments become firm only after client intent and delivery feasibility are aligned.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9808" y="5843016"/>
            <a:ext cx="1307592" cy="283464"/>
          </a:xfrm>
          <a:prstGeom prst="roundRect">
            <a:avLst>
              <a:gd name="adj" fmla="val 38710"/>
            </a:avLst>
          </a:prstGeom>
          <a:solidFill>
            <a:srgbClr val="E97832"/>
          </a:solidFill>
          <a:ln w="12700">
            <a:solidFill>
              <a:srgbClr val="E978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2960" y="5843016"/>
            <a:ext cx="1161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INTENT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39696" y="5843016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432304" y="5843016"/>
            <a:ext cx="1481328" cy="283464"/>
          </a:xfrm>
          <a:prstGeom prst="roundRect">
            <a:avLst>
              <a:gd name="adj" fmla="val 38710"/>
            </a:avLst>
          </a:prstGeom>
          <a:solidFill>
            <a:srgbClr val="2E8791"/>
          </a:solidFill>
          <a:ln w="12700">
            <a:solidFill>
              <a:srgbClr val="2E87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05456" y="5843016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REALITY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005072" y="5843016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297680" y="5843016"/>
            <a:ext cx="1627632" cy="283464"/>
          </a:xfrm>
          <a:prstGeom prst="roundRect">
            <a:avLst>
              <a:gd name="adj" fmla="val 38710"/>
            </a:avLst>
          </a:prstGeom>
          <a:solidFill>
            <a:srgbClr val="76648E"/>
          </a:solidFill>
          <a:ln w="12700">
            <a:solidFill>
              <a:srgbClr val="7664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70832" y="5843016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COMMITMENT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44768" y="5751576"/>
            <a:ext cx="4828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DCE5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does not independently commit dates, estimates, resources, methods or budget assumptions. Program does not independently reprioritize demand, change outcomes or make relationship-sensitive commitments.</a:t>
            </a:r>
            <a:endParaRPr lang="en-US" sz="89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A77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Macintosh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Publishing Services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 and Program Management: One Client, Two Lenses</dc:title>
  <dc:subject>Account and Program Management Roles</dc:subject>
  <dc:creator>Casey Mortensen</dc:creator>
  <cp:lastModifiedBy>Rob Jorgenson</cp:lastModifiedBy>
  <cp:revision>1</cp:revision>
  <dcterms:created xsi:type="dcterms:W3CDTF">2026-10-09T23:20:59Z</dcterms:created>
  <dcterms:modified xsi:type="dcterms:W3CDTF">2026-10-16T17:45:07Z</dcterms:modified>
</cp:coreProperties>
</file>