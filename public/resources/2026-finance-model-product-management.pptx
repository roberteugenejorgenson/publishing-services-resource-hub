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68" r:id="rId3"/>
    <p:sldId id="257" r:id="rId4"/>
    <p:sldId id="269" r:id="rId5"/>
    <p:sldId id="278" r:id="rId6"/>
    <p:sldId id="280" r:id="rId7"/>
    <p:sldId id="259" r:id="rId8"/>
    <p:sldId id="301" r:id="rId9"/>
    <p:sldId id="303" r:id="rId10"/>
    <p:sldId id="306" r:id="rId11"/>
    <p:sldId id="307" r:id="rId12"/>
    <p:sldId id="309" r:id="rId13"/>
    <p:sldId id="310" r:id="rId14"/>
    <p:sldId id="312" r:id="rId15"/>
    <p:sldId id="311" r:id="rId16"/>
    <p:sldId id="287" r:id="rId17"/>
    <p:sldId id="272" r:id="rId18"/>
    <p:sldId id="313" r:id="rId19"/>
    <p:sldId id="314" r:id="rId20"/>
    <p:sldId id="319" r:id="rId21"/>
    <p:sldId id="315" r:id="rId22"/>
    <p:sldId id="316" r:id="rId23"/>
    <p:sldId id="317" r:id="rId24"/>
    <p:sldId id="260" r:id="rId25"/>
    <p:sldId id="289" r:id="rId26"/>
    <p:sldId id="318" r:id="rId27"/>
    <p:sldId id="290" r:id="rId28"/>
    <p:sldId id="27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E66A05-4772-4D63-900D-A7BED17219A9}" name="Ginger Riggs" initials="GR" userId="S::riggsgi@churchofjesuschrist.org::7a8b9339-4840-416f-a046-25a6d2fa52e8" providerId="AD"/>
  <p188:author id="{300A4958-4938-B23E-AAF7-6CE984FD5605}" name="Marshall Crawley" initials="MC" userId="S::crawleyml@churchofjesuschrist.org::58bf1249-b825-4fd0-9488-627edf5033d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D3E"/>
    <a:srgbClr val="5D6B76"/>
    <a:srgbClr val="2B6F9E"/>
    <a:srgbClr val="17324D"/>
    <a:srgbClr val="2D8C8C"/>
    <a:srgbClr val="D9A441"/>
    <a:srgbClr val="6EBB55"/>
    <a:srgbClr val="E6F1F1"/>
    <a:srgbClr val="307EE7"/>
    <a:srgbClr val="2F7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59"/>
    <p:restoredTop sz="86686"/>
  </p:normalViewPr>
  <p:slideViewPr>
    <p:cSldViewPr snapToGrid="0">
      <p:cViewPr varScale="1">
        <p:scale>
          <a:sx n="103" d="100"/>
          <a:sy n="103" d="100"/>
        </p:scale>
        <p:origin x="688" y="176"/>
      </p:cViewPr>
      <p:guideLst/>
    </p:cSldViewPr>
  </p:slideViewPr>
  <p:outlineViewPr>
    <p:cViewPr>
      <p:scale>
        <a:sx n="33" d="100"/>
        <a:sy n="33" d="100"/>
      </p:scale>
      <p:origin x="0" y="-15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450197281538091E-3"/>
          <c:y val="3.1973414231945718E-2"/>
          <c:w val="0.93520956598061622"/>
          <c:h val="0.727311635507655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Limit</c:v>
                </c:pt>
              </c:strCache>
            </c:strRef>
          </c:tx>
          <c:spPr>
            <a:solidFill>
              <a:srgbClr val="17324D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Sample Program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71000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7AA-C949-A2CA-A9AA9785B9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Funded Amount</c:v>
                </c:pt>
              </c:strCache>
            </c:strRef>
          </c:tx>
          <c:spPr>
            <a:solidFill>
              <a:srgbClr val="2D8C8C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Sample Program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56000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7AA-C949-A2CA-A9AA9785B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2000">
                <a:solidFill>
                  <a:srgbClr val="5D6B76"/>
                </a:solidFill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385B8-99C9-4867-ABA6-C86538C790CA}" type="datetimeFigureOut"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8E8BF-EAB1-4811-80BC-698F019762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0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A3AF-D899-A535-268F-20D0DEDC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09D53-8320-ADAE-9770-AF4D46D31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4385F-61D3-1F05-5A65-48FD6E67F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FF465-D45C-1D03-80D2-98F0DDE2BE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3483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E7D6-78F3-1966-884D-40608137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5B787-E818-1262-74B8-AA69ACF21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1F9F6-7547-BED2-03CB-B6CDF90CE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40016-C621-8366-806B-D0BCD8C0B7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5219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59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5979-327D-057D-AD23-CD4CC7B2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F44C6-5897-FDBC-B1AE-C7ECF4A20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CE43C-7F1C-A639-5359-E69810826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10164-B662-724E-09E1-70071E06B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04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5F91-A31B-F683-5FF6-63136C92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7E658-423B-562A-E21D-6643D07F9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0E998-533A-14F0-BE49-AB44D8E07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EF885-EA6B-AD9A-0F2A-E11C541DF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9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DE039-0D85-AF04-9387-D6ECAADD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64953-E30E-BC22-4FE7-694F84E9C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6FFAC-3E41-5D5D-5003-F2B1D3ED1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7DE9A-FC75-275C-7112-42F410188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92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5873-7405-E6B8-7B4B-3C9F66CA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9A47F-8630-4B4B-FA30-82EF54DC1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C49CF-81E0-9FBD-DB46-008EF2A3A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D9A84-7778-CDD6-4AD1-73DD42D5D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12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E539F-049F-74B5-039E-791E560D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198FF-D37F-5011-C3E7-CF55788F3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C12BB-A63B-B129-6DB4-05430FA84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4BA46-80A7-CC74-5A2B-E7ED42FDD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9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5210-C53E-D1BD-86CD-EB8816D4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4BE6D-B7C4-D646-D5F6-D277C45DC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7F615-3748-E696-1ECB-979CFB5E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2E61E-5B2D-D11D-65BB-85B6FBEDB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47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86179-4897-F1C3-9EF1-3F7FEF51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15577-4891-A05C-E8A2-090B597CF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C7927-E954-6A22-18A7-EB3DE626A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EFEC7-6621-57F3-63C4-7511A2D80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5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7506-F80E-A832-5EA9-7335C7B3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3104C-50EB-65E4-A12C-1CD873249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EDC37-5A1D-1701-22E1-CFDCEFD37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9C5C8-19D6-8D3E-B1D1-DB2091179C0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2815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03F1-10FD-8548-A5A6-67C7E6AE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001CD-E85D-6AB0-4318-A80245E4C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DA744-47EB-264C-69AD-35162CFF0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F853F-00D1-3899-2FB1-B7FB9238FA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1223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8EBF-7B9B-D8A9-51D2-177ECAF5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06C21-2B66-93D3-8C3F-AC0C3FFE9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ABF47-96B7-BA26-886B-1E86E9C99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9BEEC-79D6-B6B3-5B79-F932AAD3B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143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929EB-F763-B248-A821-6E1E35D3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87C13-4D14-8AAA-7DB6-4CCB7C86E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E6E75-6965-AF8B-BA42-C437E1F2E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2089B-3039-1E74-C180-35C1DD87D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30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F94B-2C07-F85D-D2A4-206F6F4B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3F118-913C-460E-B768-16AA4720C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BF894-9AC7-D8FA-AB3B-A34913BCE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D0FAD-67A4-B541-1090-AC95F04A3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74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CEA4-B3BD-3933-EA9F-6009DC71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08A1E-D803-4467-50A8-266382F96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3EF62-4DD9-8D37-27F1-B120F2BFC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C96D5-65AB-2F24-F20E-335125C01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2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F8C6-5D44-9527-292A-5D014EA6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9D418-8632-8BF3-A738-0F812D2BC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67015-6F20-E3B0-337A-0AC5C305C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29F48-A3ED-7984-AE0D-1E3DFCE26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74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230A-DAAE-7EBA-6A80-6FFBB4FE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3830B-FAF7-CD9E-E918-16D374CC2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83025-5316-0AF4-ECFD-87C926AA6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3A1E2-EA23-83C7-8A5B-4A6961427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98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F0CB-9862-EDA4-D9B0-1B3F2F8E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6B814-57F2-49FF-740F-9B83D758A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3A6DC-A3EA-A3D8-122F-450E327B5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0C486-6AC4-6182-0196-47481FA316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45319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A7B00-2F8A-082C-C654-70080E5A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7188E-085F-73A5-1F33-6AB38582E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CE53C-7E36-EA0B-30E0-4BA1CB3E6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6AEB3-684D-1A36-BBFA-27E90777C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8E8BF-EAB1-4811-80BC-698F0197621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517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0EAD-2DEE-36ED-8F3B-E0366899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AA631-0871-FEC5-A3F7-410A3B3AE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08FEF-C252-F5E5-857B-2A7ABF674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03283-FD75-6145-074A-ED1B9B12788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2128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29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A23D-83C6-4F4D-A41B-4A870FAEBC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42900"/>
            <a:ext cx="10972800" cy="1028700"/>
          </a:xfrm>
        </p:spPr>
        <p:txBody>
          <a:bodyPr anchor="t"/>
          <a:lstStyle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C5B25-379C-4F5C-B503-DE8F99C30F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371600"/>
            <a:ext cx="10972799" cy="5143500"/>
          </a:xfrm>
        </p:spPr>
        <p:txBody>
          <a:bodyPr/>
          <a:lstStyle>
            <a:lvl1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246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5F8882-F76E-41FF-8BDB-27D7958E33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635585-7FF7-4452-8DE2-2C2826EDDEC0}"/>
              </a:ext>
            </a:extLst>
          </p:cNvPr>
          <p:cNvSpPr>
            <a:spLocks noGrp="1"/>
          </p:cNvSpPr>
          <p:nvPr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rgbClr val="2B6F9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5B6CA-2072-47F5-AB6E-21BA82727CE1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2D8C8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7EE6A-3CA6-4878-B1B1-6B3085D67E01}"/>
              </a:ext>
            </a:extLst>
          </p:cNvPr>
          <p:cNvSpPr>
            <a:spLocks noGrp="1"/>
          </p:cNvSpPr>
          <p:nvPr/>
        </p:nvSpPr>
        <p:spPr>
          <a:xfrm>
            <a:off x="781050" y="83820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lang="en-US" sz="1100" b="1">
                <a:solidFill>
                  <a:srgbClr val="D9A441"/>
                </a:solidFill>
                <a:latin typeface="Aptos"/>
              </a:rPr>
              <a:t>NEW FINANCE  </a:t>
            </a:r>
            <a:r>
              <a:rPr sz="1100" b="1">
                <a:solidFill>
                  <a:srgbClr val="D9A441"/>
                </a:solidFill>
                <a:latin typeface="Aptos"/>
              </a:rPr>
              <a:t>MODEL 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4EF81-E504-48FB-B7EE-FCCA6C28EDE6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6953250" cy="1627632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5400" dirty="0">
                <a:solidFill>
                  <a:srgbClr val="FFFFFF"/>
                </a:solidFill>
                <a:latin typeface="Aptos"/>
              </a:rPr>
              <a:t>Communications and Publishing 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8D5F4D-FFAC-4B21-98DF-8AF66853AD03}"/>
              </a:ext>
            </a:extLst>
          </p:cNvPr>
          <p:cNvSpPr>
            <a:spLocks noGrp="1"/>
          </p:cNvSpPr>
          <p:nvPr/>
        </p:nvSpPr>
        <p:spPr>
          <a:xfrm>
            <a:off x="819150" y="4027877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1800">
                <a:solidFill>
                  <a:srgbClr val="DDEAF2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DDEAF2"/>
                </a:solidFill>
                <a:latin typeface="Aptos"/>
              </a:rPr>
              <a:t>Flexibility with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207611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AAC55F75-6BDB-12A7-E4FA-2587834757D0}"/>
              </a:ext>
            </a:extLst>
          </p:cNvPr>
          <p:cNvSpPr>
            <a:spLocks noGrp="1"/>
          </p:cNvSpPr>
          <p:nvPr/>
        </p:nvSpPr>
        <p:spPr>
          <a:xfrm>
            <a:off x="822960" y="3840480"/>
            <a:ext cx="315468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800" b="1">
                <a:solidFill>
                  <a:srgbClr val="17324D"/>
                </a:solidFill>
                <a:latin typeface="Aptos"/>
              </a:rPr>
              <a:t>Global publishing</a:t>
            </a:r>
            <a:endParaRPr lang="en-US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6ABA5EC-2030-306E-EC07-A0F843E11173}"/>
              </a:ext>
            </a:extLst>
          </p:cNvPr>
          <p:cNvSpPr>
            <a:spLocks noGrp="1"/>
          </p:cNvSpPr>
          <p:nvPr/>
        </p:nvSpPr>
        <p:spPr>
          <a:xfrm>
            <a:off x="4526280" y="3840480"/>
            <a:ext cx="315468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800" b="1">
                <a:solidFill>
                  <a:srgbClr val="17324D"/>
                </a:solidFill>
                <a:latin typeface="Aptos"/>
              </a:rPr>
              <a:t>Localize for impact</a:t>
            </a:r>
            <a:endParaRPr lang="en-US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4ACC66B-0F5F-8AB0-65DF-30D85AAFEE0D}"/>
              </a:ext>
            </a:extLst>
          </p:cNvPr>
          <p:cNvSpPr>
            <a:spLocks noGrp="1"/>
          </p:cNvSpPr>
          <p:nvPr/>
        </p:nvSpPr>
        <p:spPr>
          <a:xfrm>
            <a:off x="8229600" y="3840480"/>
            <a:ext cx="315468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800" b="1">
                <a:solidFill>
                  <a:srgbClr val="17324D"/>
                </a:solidFill>
                <a:latin typeface="Aptos"/>
              </a:rPr>
              <a:t>Scale capacity</a:t>
            </a:r>
            <a:endParaRPr lang="en-US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0BCA82AF-2FF9-CED5-ED7B-CCC059243377}"/>
              </a:ext>
            </a:extLst>
          </p:cNvPr>
          <p:cNvSpPr>
            <a:spLocks noGrp="1"/>
          </p:cNvSpPr>
          <p:nvPr/>
        </p:nvSpPr>
        <p:spPr>
          <a:xfrm>
            <a:off x="822960" y="4507992"/>
            <a:ext cx="3108960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800" b="0">
                <a:solidFill>
                  <a:srgbClr val="5D6B76"/>
                </a:solidFill>
                <a:latin typeface="Aptos"/>
              </a:rPr>
              <a:t>Simplify and organize publishing work at HQ and in </a:t>
            </a:r>
            <a:r>
              <a:rPr lang="en-US">
                <a:solidFill>
                  <a:srgbClr val="5D6B76"/>
                </a:solidFill>
                <a:latin typeface="Aptos"/>
              </a:rPr>
              <a:t>Areas</a:t>
            </a:r>
            <a:r>
              <a:rPr lang="en-US" sz="1800" b="0">
                <a:solidFill>
                  <a:srgbClr val="5D6B76"/>
                </a:solidFill>
                <a:latin typeface="Aptos"/>
              </a:rPr>
              <a:t> to create a global publishing network.</a:t>
            </a:r>
            <a:endParaRPr lang="en-US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76741EBB-72BB-9BB6-E327-6471FC4DB0EA}"/>
              </a:ext>
            </a:extLst>
          </p:cNvPr>
          <p:cNvSpPr>
            <a:spLocks noGrp="1"/>
          </p:cNvSpPr>
          <p:nvPr/>
        </p:nvSpPr>
        <p:spPr>
          <a:xfrm>
            <a:off x="4526280" y="4507992"/>
            <a:ext cx="3108960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800" b="0">
                <a:solidFill>
                  <a:srgbClr val="5D6B76"/>
                </a:solidFill>
                <a:latin typeface="Aptos"/>
              </a:rPr>
              <a:t>Localize Church messages and materials to meet the needs of leaders and members worldwide.</a:t>
            </a:r>
            <a:endParaRPr lang="en-US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54563C82-ACA9-CC23-52BA-D70434942D71}"/>
              </a:ext>
            </a:extLst>
          </p:cNvPr>
          <p:cNvSpPr>
            <a:spLocks noGrp="1"/>
          </p:cNvSpPr>
          <p:nvPr/>
        </p:nvSpPr>
        <p:spPr>
          <a:xfrm>
            <a:off x="8229600" y="4507992"/>
            <a:ext cx="3108960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800" b="0">
                <a:solidFill>
                  <a:srgbClr val="5D6B76"/>
                </a:solidFill>
                <a:latin typeface="Aptos"/>
              </a:rPr>
              <a:t>Expand outsourcing to deliver approved work.</a:t>
            </a:r>
            <a:endParaRPr lang="en-US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5D6B76"/>
                </a:solidFill>
                <a:latin typeface="Aptos"/>
              </a:rPr>
              <a:t>Use AI and automation to improve efficiency.</a:t>
            </a:r>
          </a:p>
        </p:txBody>
      </p:sp>
      <p:sp>
        <p:nvSpPr>
          <p:cNvPr id="16" name="Y 800">
            <a:extLst>
              <a:ext uri="{FF2B5EF4-FFF2-40B4-BE49-F238E27FC236}">
                <a16:creationId xmlns:a16="http://schemas.microsoft.com/office/drawing/2014/main" id="{7CEB35A5-D47E-0CA4-B161-73D13FBA7212}"/>
              </a:ext>
            </a:extLst>
          </p:cNvPr>
          <p:cNvSpPr>
            <a:spLocks noGrp="1"/>
          </p:cNvSpPr>
          <p:nvPr/>
        </p:nvSpPr>
        <p:spPr>
          <a:xfrm>
            <a:off x="8998688" y="2669359"/>
            <a:ext cx="725490" cy="719866"/>
          </a:xfrm>
          <a:prstGeom prst="gear9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Y 803">
            <a:extLst>
              <a:ext uri="{FF2B5EF4-FFF2-40B4-BE49-F238E27FC236}">
                <a16:creationId xmlns:a16="http://schemas.microsoft.com/office/drawing/2014/main" id="{94A06155-AD27-E1E6-3548-776A69AEC83C}"/>
              </a:ext>
            </a:extLst>
          </p:cNvPr>
          <p:cNvSpPr>
            <a:spLocks noGrp="1"/>
          </p:cNvSpPr>
          <p:nvPr/>
        </p:nvSpPr>
        <p:spPr>
          <a:xfrm>
            <a:off x="8856181" y="2455113"/>
            <a:ext cx="129551" cy="128547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Y 804">
            <a:extLst>
              <a:ext uri="{FF2B5EF4-FFF2-40B4-BE49-F238E27FC236}">
                <a16:creationId xmlns:a16="http://schemas.microsoft.com/office/drawing/2014/main" id="{6D79DCE2-1887-D39E-3232-1EF7D5DA15BC}"/>
              </a:ext>
            </a:extLst>
          </p:cNvPr>
          <p:cNvSpPr>
            <a:spLocks noGrp="1"/>
          </p:cNvSpPr>
          <p:nvPr/>
        </p:nvSpPr>
        <p:spPr>
          <a:xfrm>
            <a:off x="8808679" y="2600800"/>
            <a:ext cx="224556" cy="137117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Y 805">
            <a:extLst>
              <a:ext uri="{FF2B5EF4-FFF2-40B4-BE49-F238E27FC236}">
                <a16:creationId xmlns:a16="http://schemas.microsoft.com/office/drawing/2014/main" id="{88778782-E09A-ACB9-C2D2-311F121946AC}"/>
              </a:ext>
            </a:extLst>
          </p:cNvPr>
          <p:cNvSpPr>
            <a:spLocks noGrp="1"/>
          </p:cNvSpPr>
          <p:nvPr/>
        </p:nvSpPr>
        <p:spPr>
          <a:xfrm>
            <a:off x="9737134" y="2455113"/>
            <a:ext cx="129551" cy="128547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Y 806">
            <a:extLst>
              <a:ext uri="{FF2B5EF4-FFF2-40B4-BE49-F238E27FC236}">
                <a16:creationId xmlns:a16="http://schemas.microsoft.com/office/drawing/2014/main" id="{22623C69-D681-80A5-6BCE-8D442CA2B251}"/>
              </a:ext>
            </a:extLst>
          </p:cNvPr>
          <p:cNvSpPr>
            <a:spLocks noGrp="1"/>
          </p:cNvSpPr>
          <p:nvPr/>
        </p:nvSpPr>
        <p:spPr>
          <a:xfrm>
            <a:off x="9689632" y="2600800"/>
            <a:ext cx="224556" cy="137117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Y 811">
            <a:extLst>
              <a:ext uri="{FF2B5EF4-FFF2-40B4-BE49-F238E27FC236}">
                <a16:creationId xmlns:a16="http://schemas.microsoft.com/office/drawing/2014/main" id="{1E51A0FF-9A47-9F4B-BFDA-E5CF1AADB87D}"/>
              </a:ext>
            </a:extLst>
          </p:cNvPr>
          <p:cNvSpPr>
            <a:spLocks noGrp="1"/>
          </p:cNvSpPr>
          <p:nvPr/>
        </p:nvSpPr>
        <p:spPr>
          <a:xfrm flipH="1" flipV="1">
            <a:off x="8998265" y="2759772"/>
            <a:ext cx="85500" cy="8483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Y 812">
            <a:extLst>
              <a:ext uri="{FF2B5EF4-FFF2-40B4-BE49-F238E27FC236}">
                <a16:creationId xmlns:a16="http://schemas.microsoft.com/office/drawing/2014/main" id="{48C8601D-DEF2-7984-E475-2374B671EC73}"/>
              </a:ext>
            </a:extLst>
          </p:cNvPr>
          <p:cNvSpPr>
            <a:spLocks noGrp="1"/>
          </p:cNvSpPr>
          <p:nvPr/>
        </p:nvSpPr>
        <p:spPr>
          <a:xfrm flipV="1">
            <a:off x="9642957" y="2759772"/>
            <a:ext cx="85500" cy="8483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Y 813">
            <a:extLst>
              <a:ext uri="{FF2B5EF4-FFF2-40B4-BE49-F238E27FC236}">
                <a16:creationId xmlns:a16="http://schemas.microsoft.com/office/drawing/2014/main" id="{B5D222C9-2AA5-A646-9E1D-FDB650DEBE27}"/>
              </a:ext>
            </a:extLst>
          </p:cNvPr>
          <p:cNvSpPr>
            <a:spLocks noGrp="1"/>
          </p:cNvSpPr>
          <p:nvPr/>
        </p:nvSpPr>
        <p:spPr>
          <a:xfrm flipH="1">
            <a:off x="9034971" y="3291104"/>
            <a:ext cx="85500" cy="8483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Y 814">
            <a:extLst>
              <a:ext uri="{FF2B5EF4-FFF2-40B4-BE49-F238E27FC236}">
                <a16:creationId xmlns:a16="http://schemas.microsoft.com/office/drawing/2014/main" id="{9E6887AD-5ABC-61C1-DF9C-CA5A26145F51}"/>
              </a:ext>
            </a:extLst>
          </p:cNvPr>
          <p:cNvSpPr>
            <a:spLocks noGrp="1"/>
          </p:cNvSpPr>
          <p:nvPr/>
        </p:nvSpPr>
        <p:spPr>
          <a:xfrm>
            <a:off x="9604132" y="3291104"/>
            <a:ext cx="85500" cy="8483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Y 807">
            <a:extLst>
              <a:ext uri="{FF2B5EF4-FFF2-40B4-BE49-F238E27FC236}">
                <a16:creationId xmlns:a16="http://schemas.microsoft.com/office/drawing/2014/main" id="{BC2D21C5-59D1-2B1B-1FA4-249B74A6EC01}"/>
              </a:ext>
            </a:extLst>
          </p:cNvPr>
          <p:cNvSpPr>
            <a:spLocks noGrp="1"/>
          </p:cNvSpPr>
          <p:nvPr/>
        </p:nvSpPr>
        <p:spPr>
          <a:xfrm>
            <a:off x="8856181" y="3277818"/>
            <a:ext cx="129551" cy="128547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7" name="Y 808">
            <a:extLst>
              <a:ext uri="{FF2B5EF4-FFF2-40B4-BE49-F238E27FC236}">
                <a16:creationId xmlns:a16="http://schemas.microsoft.com/office/drawing/2014/main" id="{A71FD9A4-1C5D-9597-6D59-05064086553C}"/>
              </a:ext>
            </a:extLst>
          </p:cNvPr>
          <p:cNvSpPr>
            <a:spLocks noGrp="1"/>
          </p:cNvSpPr>
          <p:nvPr/>
        </p:nvSpPr>
        <p:spPr>
          <a:xfrm>
            <a:off x="8808679" y="3423506"/>
            <a:ext cx="224556" cy="137117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8" name="Y 813">
            <a:extLst>
              <a:ext uri="{FF2B5EF4-FFF2-40B4-BE49-F238E27FC236}">
                <a16:creationId xmlns:a16="http://schemas.microsoft.com/office/drawing/2014/main" id="{752001A9-775E-C337-5E51-3F2651DF48DE}"/>
              </a:ext>
            </a:extLst>
          </p:cNvPr>
          <p:cNvSpPr>
            <a:spLocks noGrp="1"/>
          </p:cNvSpPr>
          <p:nvPr/>
        </p:nvSpPr>
        <p:spPr>
          <a:xfrm flipH="1">
            <a:off x="8808679" y="3492066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9" name="Y 813">
            <a:extLst>
              <a:ext uri="{FF2B5EF4-FFF2-40B4-BE49-F238E27FC236}">
                <a16:creationId xmlns:a16="http://schemas.microsoft.com/office/drawing/2014/main" id="{3F1EED89-5A2D-2F4B-FA0F-551546B7D94B}"/>
              </a:ext>
            </a:extLst>
          </p:cNvPr>
          <p:cNvSpPr>
            <a:spLocks noGrp="1"/>
          </p:cNvSpPr>
          <p:nvPr/>
        </p:nvSpPr>
        <p:spPr>
          <a:xfrm flipV="1">
            <a:off x="8808698" y="3543483"/>
            <a:ext cx="224536" cy="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0" name="Y 813">
            <a:extLst>
              <a:ext uri="{FF2B5EF4-FFF2-40B4-BE49-F238E27FC236}">
                <a16:creationId xmlns:a16="http://schemas.microsoft.com/office/drawing/2014/main" id="{949E5470-9DAC-7FB6-FD36-EB57361DDFEB}"/>
              </a:ext>
            </a:extLst>
          </p:cNvPr>
          <p:cNvSpPr>
            <a:spLocks noGrp="1"/>
          </p:cNvSpPr>
          <p:nvPr/>
        </p:nvSpPr>
        <p:spPr>
          <a:xfrm flipH="1">
            <a:off x="9033235" y="3492066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Y 807">
            <a:extLst>
              <a:ext uri="{FF2B5EF4-FFF2-40B4-BE49-F238E27FC236}">
                <a16:creationId xmlns:a16="http://schemas.microsoft.com/office/drawing/2014/main" id="{F7C83CC0-AF89-C145-F29B-026A1E9C876A}"/>
              </a:ext>
            </a:extLst>
          </p:cNvPr>
          <p:cNvSpPr>
            <a:spLocks noGrp="1"/>
          </p:cNvSpPr>
          <p:nvPr/>
        </p:nvSpPr>
        <p:spPr>
          <a:xfrm>
            <a:off x="9732815" y="3277818"/>
            <a:ext cx="129551" cy="128547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2" name="Y 808">
            <a:extLst>
              <a:ext uri="{FF2B5EF4-FFF2-40B4-BE49-F238E27FC236}">
                <a16:creationId xmlns:a16="http://schemas.microsoft.com/office/drawing/2014/main" id="{A96BC601-1CA9-A97E-056C-B21755304E7B}"/>
              </a:ext>
            </a:extLst>
          </p:cNvPr>
          <p:cNvSpPr>
            <a:spLocks noGrp="1"/>
          </p:cNvSpPr>
          <p:nvPr/>
        </p:nvSpPr>
        <p:spPr>
          <a:xfrm>
            <a:off x="9685313" y="3423506"/>
            <a:ext cx="224556" cy="137117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Y 813">
            <a:extLst>
              <a:ext uri="{FF2B5EF4-FFF2-40B4-BE49-F238E27FC236}">
                <a16:creationId xmlns:a16="http://schemas.microsoft.com/office/drawing/2014/main" id="{26D2824A-9F2E-4DC2-FA99-D6A51C0A2D80}"/>
              </a:ext>
            </a:extLst>
          </p:cNvPr>
          <p:cNvSpPr>
            <a:spLocks noGrp="1"/>
          </p:cNvSpPr>
          <p:nvPr/>
        </p:nvSpPr>
        <p:spPr>
          <a:xfrm flipH="1">
            <a:off x="9685313" y="3492066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Y 813">
            <a:extLst>
              <a:ext uri="{FF2B5EF4-FFF2-40B4-BE49-F238E27FC236}">
                <a16:creationId xmlns:a16="http://schemas.microsoft.com/office/drawing/2014/main" id="{44A3348D-33D8-F66E-DFE4-FC88282AD074}"/>
              </a:ext>
            </a:extLst>
          </p:cNvPr>
          <p:cNvSpPr>
            <a:spLocks noGrp="1"/>
          </p:cNvSpPr>
          <p:nvPr/>
        </p:nvSpPr>
        <p:spPr>
          <a:xfrm flipV="1">
            <a:off x="9685332" y="3543483"/>
            <a:ext cx="224536" cy="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5" name="Y 813">
            <a:extLst>
              <a:ext uri="{FF2B5EF4-FFF2-40B4-BE49-F238E27FC236}">
                <a16:creationId xmlns:a16="http://schemas.microsoft.com/office/drawing/2014/main" id="{3A7FC706-99E6-FE23-6B2B-6E30C9F6CF59}"/>
              </a:ext>
            </a:extLst>
          </p:cNvPr>
          <p:cNvSpPr>
            <a:spLocks noGrp="1"/>
          </p:cNvSpPr>
          <p:nvPr/>
        </p:nvSpPr>
        <p:spPr>
          <a:xfrm flipH="1">
            <a:off x="9909869" y="3492066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Y 807">
            <a:extLst>
              <a:ext uri="{FF2B5EF4-FFF2-40B4-BE49-F238E27FC236}">
                <a16:creationId xmlns:a16="http://schemas.microsoft.com/office/drawing/2014/main" id="{F989454B-5A3D-2554-1659-9A293B135D81}"/>
              </a:ext>
            </a:extLst>
          </p:cNvPr>
          <p:cNvSpPr>
            <a:spLocks noGrp="1"/>
          </p:cNvSpPr>
          <p:nvPr/>
        </p:nvSpPr>
        <p:spPr>
          <a:xfrm>
            <a:off x="9218926" y="2845041"/>
            <a:ext cx="129551" cy="128547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Y 808">
            <a:extLst>
              <a:ext uri="{FF2B5EF4-FFF2-40B4-BE49-F238E27FC236}">
                <a16:creationId xmlns:a16="http://schemas.microsoft.com/office/drawing/2014/main" id="{0F54790A-9540-649B-0F00-986846421287}"/>
              </a:ext>
            </a:extLst>
          </p:cNvPr>
          <p:cNvSpPr>
            <a:spLocks noGrp="1"/>
          </p:cNvSpPr>
          <p:nvPr/>
        </p:nvSpPr>
        <p:spPr>
          <a:xfrm>
            <a:off x="9171424" y="2990729"/>
            <a:ext cx="224556" cy="137117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Y 813">
            <a:extLst>
              <a:ext uri="{FF2B5EF4-FFF2-40B4-BE49-F238E27FC236}">
                <a16:creationId xmlns:a16="http://schemas.microsoft.com/office/drawing/2014/main" id="{4245CEC9-796D-CEA9-6DDC-B9897482928C}"/>
              </a:ext>
            </a:extLst>
          </p:cNvPr>
          <p:cNvSpPr>
            <a:spLocks noGrp="1"/>
          </p:cNvSpPr>
          <p:nvPr/>
        </p:nvSpPr>
        <p:spPr>
          <a:xfrm flipH="1">
            <a:off x="9171424" y="3059289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Y 813">
            <a:extLst>
              <a:ext uri="{FF2B5EF4-FFF2-40B4-BE49-F238E27FC236}">
                <a16:creationId xmlns:a16="http://schemas.microsoft.com/office/drawing/2014/main" id="{3AD8FDA8-268B-C58B-798E-F0F8B848C63D}"/>
              </a:ext>
            </a:extLst>
          </p:cNvPr>
          <p:cNvSpPr>
            <a:spLocks noGrp="1"/>
          </p:cNvSpPr>
          <p:nvPr/>
        </p:nvSpPr>
        <p:spPr>
          <a:xfrm flipV="1">
            <a:off x="9171443" y="3110706"/>
            <a:ext cx="224536" cy="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Y 813">
            <a:extLst>
              <a:ext uri="{FF2B5EF4-FFF2-40B4-BE49-F238E27FC236}">
                <a16:creationId xmlns:a16="http://schemas.microsoft.com/office/drawing/2014/main" id="{31875C36-3C3E-B329-B780-7F10A720EBD9}"/>
              </a:ext>
            </a:extLst>
          </p:cNvPr>
          <p:cNvSpPr>
            <a:spLocks noGrp="1"/>
          </p:cNvSpPr>
          <p:nvPr/>
        </p:nvSpPr>
        <p:spPr>
          <a:xfrm flipH="1">
            <a:off x="9395980" y="3059289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Y 807">
            <a:extLst>
              <a:ext uri="{FF2B5EF4-FFF2-40B4-BE49-F238E27FC236}">
                <a16:creationId xmlns:a16="http://schemas.microsoft.com/office/drawing/2014/main" id="{0E2A771F-1E16-33F4-1FF5-62700A498FAA}"/>
              </a:ext>
            </a:extLst>
          </p:cNvPr>
          <p:cNvSpPr>
            <a:spLocks noGrp="1"/>
          </p:cNvSpPr>
          <p:nvPr/>
        </p:nvSpPr>
        <p:spPr>
          <a:xfrm>
            <a:off x="9413028" y="2947796"/>
            <a:ext cx="102146" cy="101354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Y 808">
            <a:extLst>
              <a:ext uri="{FF2B5EF4-FFF2-40B4-BE49-F238E27FC236}">
                <a16:creationId xmlns:a16="http://schemas.microsoft.com/office/drawing/2014/main" id="{8ADA347D-87D0-73CE-A564-86D28DA24BBC}"/>
              </a:ext>
            </a:extLst>
          </p:cNvPr>
          <p:cNvSpPr>
            <a:spLocks noGrp="1"/>
          </p:cNvSpPr>
          <p:nvPr/>
        </p:nvSpPr>
        <p:spPr>
          <a:xfrm>
            <a:off x="9375574" y="3062665"/>
            <a:ext cx="177053" cy="108111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Y 813">
            <a:extLst>
              <a:ext uri="{FF2B5EF4-FFF2-40B4-BE49-F238E27FC236}">
                <a16:creationId xmlns:a16="http://schemas.microsoft.com/office/drawing/2014/main" id="{581ABDF3-592D-60A5-6FCB-BD2F33941A93}"/>
              </a:ext>
            </a:extLst>
          </p:cNvPr>
          <p:cNvSpPr>
            <a:spLocks noGrp="1"/>
          </p:cNvSpPr>
          <p:nvPr/>
        </p:nvSpPr>
        <p:spPr>
          <a:xfrm flipH="1">
            <a:off x="9375575" y="3116722"/>
            <a:ext cx="0" cy="4054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Y 813">
            <a:extLst>
              <a:ext uri="{FF2B5EF4-FFF2-40B4-BE49-F238E27FC236}">
                <a16:creationId xmlns:a16="http://schemas.microsoft.com/office/drawing/2014/main" id="{6F9A7E5E-1D3D-4FA7-3B7F-C208B35E8F6C}"/>
              </a:ext>
            </a:extLst>
          </p:cNvPr>
          <p:cNvSpPr>
            <a:spLocks noGrp="1"/>
          </p:cNvSpPr>
          <p:nvPr/>
        </p:nvSpPr>
        <p:spPr>
          <a:xfrm flipV="1">
            <a:off x="9375590" y="3157262"/>
            <a:ext cx="177038" cy="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Y 813">
            <a:extLst>
              <a:ext uri="{FF2B5EF4-FFF2-40B4-BE49-F238E27FC236}">
                <a16:creationId xmlns:a16="http://schemas.microsoft.com/office/drawing/2014/main" id="{088A66E7-8068-D7E8-2396-09C9D801D524}"/>
              </a:ext>
            </a:extLst>
          </p:cNvPr>
          <p:cNvSpPr>
            <a:spLocks noGrp="1"/>
          </p:cNvSpPr>
          <p:nvPr/>
        </p:nvSpPr>
        <p:spPr>
          <a:xfrm flipH="1">
            <a:off x="9552628" y="3116722"/>
            <a:ext cx="0" cy="4054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Y 807">
            <a:extLst>
              <a:ext uri="{FF2B5EF4-FFF2-40B4-BE49-F238E27FC236}">
                <a16:creationId xmlns:a16="http://schemas.microsoft.com/office/drawing/2014/main" id="{BC2B2D18-6F6C-FFC8-BFE4-D6A7FBABEC05}"/>
              </a:ext>
            </a:extLst>
          </p:cNvPr>
          <p:cNvSpPr>
            <a:spLocks noGrp="1"/>
          </p:cNvSpPr>
          <p:nvPr/>
        </p:nvSpPr>
        <p:spPr>
          <a:xfrm>
            <a:off x="8856181" y="2455113"/>
            <a:ext cx="129551" cy="128547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Y 808">
            <a:extLst>
              <a:ext uri="{FF2B5EF4-FFF2-40B4-BE49-F238E27FC236}">
                <a16:creationId xmlns:a16="http://schemas.microsoft.com/office/drawing/2014/main" id="{061D1C99-3286-2913-CCAB-850086DB6F29}"/>
              </a:ext>
            </a:extLst>
          </p:cNvPr>
          <p:cNvSpPr>
            <a:spLocks noGrp="1"/>
          </p:cNvSpPr>
          <p:nvPr/>
        </p:nvSpPr>
        <p:spPr>
          <a:xfrm>
            <a:off x="8808679" y="2600801"/>
            <a:ext cx="224556" cy="137117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Y 813">
            <a:extLst>
              <a:ext uri="{FF2B5EF4-FFF2-40B4-BE49-F238E27FC236}">
                <a16:creationId xmlns:a16="http://schemas.microsoft.com/office/drawing/2014/main" id="{63F174C6-D132-99CA-8305-33872E655110}"/>
              </a:ext>
            </a:extLst>
          </p:cNvPr>
          <p:cNvSpPr>
            <a:spLocks noGrp="1"/>
          </p:cNvSpPr>
          <p:nvPr/>
        </p:nvSpPr>
        <p:spPr>
          <a:xfrm flipH="1">
            <a:off x="8808679" y="2669361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Y 813">
            <a:extLst>
              <a:ext uri="{FF2B5EF4-FFF2-40B4-BE49-F238E27FC236}">
                <a16:creationId xmlns:a16="http://schemas.microsoft.com/office/drawing/2014/main" id="{5957DA11-481C-6124-46B4-9632E7C3D34B}"/>
              </a:ext>
            </a:extLst>
          </p:cNvPr>
          <p:cNvSpPr>
            <a:spLocks noGrp="1"/>
          </p:cNvSpPr>
          <p:nvPr/>
        </p:nvSpPr>
        <p:spPr>
          <a:xfrm flipV="1">
            <a:off x="8808698" y="2720778"/>
            <a:ext cx="224536" cy="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Y 813">
            <a:extLst>
              <a:ext uri="{FF2B5EF4-FFF2-40B4-BE49-F238E27FC236}">
                <a16:creationId xmlns:a16="http://schemas.microsoft.com/office/drawing/2014/main" id="{E2480EEA-9729-446C-DB0F-22306B72CC55}"/>
              </a:ext>
            </a:extLst>
          </p:cNvPr>
          <p:cNvSpPr>
            <a:spLocks noGrp="1"/>
          </p:cNvSpPr>
          <p:nvPr/>
        </p:nvSpPr>
        <p:spPr>
          <a:xfrm flipH="1">
            <a:off x="9033235" y="2669361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Y 807">
            <a:extLst>
              <a:ext uri="{FF2B5EF4-FFF2-40B4-BE49-F238E27FC236}">
                <a16:creationId xmlns:a16="http://schemas.microsoft.com/office/drawing/2014/main" id="{16ACFD04-272D-845A-61A7-680C936D6F6B}"/>
              </a:ext>
            </a:extLst>
          </p:cNvPr>
          <p:cNvSpPr>
            <a:spLocks noGrp="1"/>
          </p:cNvSpPr>
          <p:nvPr/>
        </p:nvSpPr>
        <p:spPr>
          <a:xfrm>
            <a:off x="9737134" y="2455113"/>
            <a:ext cx="129551" cy="128547"/>
          </a:xfrm>
          <a:prstGeom prst="ellipse">
            <a:avLst/>
          </a:prstGeom>
          <a:solidFill>
            <a:srgbClr val="C6E3F2"/>
          </a:solidFill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Y 808">
            <a:extLst>
              <a:ext uri="{FF2B5EF4-FFF2-40B4-BE49-F238E27FC236}">
                <a16:creationId xmlns:a16="http://schemas.microsoft.com/office/drawing/2014/main" id="{A1DED410-49A2-7B39-16F9-90B0EFBCFB51}"/>
              </a:ext>
            </a:extLst>
          </p:cNvPr>
          <p:cNvSpPr>
            <a:spLocks noGrp="1"/>
          </p:cNvSpPr>
          <p:nvPr/>
        </p:nvSpPr>
        <p:spPr>
          <a:xfrm>
            <a:off x="9689632" y="2600801"/>
            <a:ext cx="224556" cy="137117"/>
          </a:xfrm>
          <a:prstGeom prst="arc">
            <a:avLst>
              <a:gd name="adj1" fmla="val 10800000"/>
              <a:gd name="adj2" fmla="val 0"/>
            </a:avLst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Y 813">
            <a:extLst>
              <a:ext uri="{FF2B5EF4-FFF2-40B4-BE49-F238E27FC236}">
                <a16:creationId xmlns:a16="http://schemas.microsoft.com/office/drawing/2014/main" id="{3E4044B1-996A-FFA4-1C88-AFF3C2329935}"/>
              </a:ext>
            </a:extLst>
          </p:cNvPr>
          <p:cNvSpPr>
            <a:spLocks noGrp="1"/>
          </p:cNvSpPr>
          <p:nvPr/>
        </p:nvSpPr>
        <p:spPr>
          <a:xfrm flipH="1">
            <a:off x="9689632" y="2669361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Y 813">
            <a:extLst>
              <a:ext uri="{FF2B5EF4-FFF2-40B4-BE49-F238E27FC236}">
                <a16:creationId xmlns:a16="http://schemas.microsoft.com/office/drawing/2014/main" id="{C32FA43E-FE0D-30E4-8B51-320C7FAD6027}"/>
              </a:ext>
            </a:extLst>
          </p:cNvPr>
          <p:cNvSpPr>
            <a:spLocks noGrp="1"/>
          </p:cNvSpPr>
          <p:nvPr/>
        </p:nvSpPr>
        <p:spPr>
          <a:xfrm flipV="1">
            <a:off x="9689651" y="2720778"/>
            <a:ext cx="224536" cy="0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Y 813">
            <a:extLst>
              <a:ext uri="{FF2B5EF4-FFF2-40B4-BE49-F238E27FC236}">
                <a16:creationId xmlns:a16="http://schemas.microsoft.com/office/drawing/2014/main" id="{09AF327D-DD22-13A3-8197-49FEA4890D2F}"/>
              </a:ext>
            </a:extLst>
          </p:cNvPr>
          <p:cNvSpPr>
            <a:spLocks noGrp="1"/>
          </p:cNvSpPr>
          <p:nvPr/>
        </p:nvSpPr>
        <p:spPr>
          <a:xfrm flipH="1">
            <a:off x="9914188" y="2669361"/>
            <a:ext cx="0" cy="51417"/>
          </a:xfrm>
          <a:prstGeom prst="line">
            <a:avLst/>
          </a:prstGeom>
          <a:noFill/>
          <a:ln w="29599">
            <a:solidFill>
              <a:srgbClr val="8FBBD3"/>
            </a:solidFill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00054" name="Picture 10004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31166" y="2120738"/>
            <a:ext cx="1783080" cy="1783080"/>
          </a:xfrm>
          <a:prstGeom prst="rect">
            <a:avLst/>
          </a:prstGeom>
        </p:spPr>
      </p:pic>
      <p:pic>
        <p:nvPicPr>
          <p:cNvPr id="100055" name="Picture 10004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95400" y="2118868"/>
            <a:ext cx="1778000" cy="1778000"/>
          </a:xfrm>
          <a:prstGeom prst="rect">
            <a:avLst/>
          </a:prstGeom>
        </p:spPr>
      </p:pic>
      <p:sp>
        <p:nvSpPr>
          <p:cNvPr id="100056" name="Matched Rectangle 13">
            <a:extLst>
              <a:ext uri="{FF2B5EF4-FFF2-40B4-BE49-F238E27FC236}">
                <a16:creationId xmlns:a16="http://schemas.microsoft.com/office/drawing/2014/main" id="{EA3FCCB1-F2FB-4D3D-A5E3-FDAEC95BFD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100057" name="Matched Rectangle 1">
            <a:extLst>
              <a:ext uri="{FF2B5EF4-FFF2-40B4-BE49-F238E27FC236}">
                <a16:creationId xmlns:a16="http://schemas.microsoft.com/office/drawing/2014/main" id="{A1A882E6-B10A-45E5-8778-FD626EC02831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000" b="1" dirty="0">
                <a:solidFill>
                  <a:srgbClr val="17324D"/>
                </a:solidFill>
                <a:latin typeface="Aptos"/>
              </a:rPr>
              <a:t>Publishing 10-year plan</a:t>
            </a:r>
          </a:p>
        </p:txBody>
      </p:sp>
      <p:sp>
        <p:nvSpPr>
          <p:cNvPr id="100059" name="Matched Rectangle 3">
            <a:extLst>
              <a:ext uri="{FF2B5EF4-FFF2-40B4-BE49-F238E27FC236}">
                <a16:creationId xmlns:a16="http://schemas.microsoft.com/office/drawing/2014/main" id="{8819FC00-345D-483C-9ABD-520D5AE95515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2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3FCCB1-F2FB-4D3D-A5E3-FDAEC95BFD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882E6-B10A-45E5-8778-FD626EC02831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0">
                <a:solidFill>
                  <a:srgbClr val="17324D"/>
                </a:solidFill>
                <a:latin typeface="Aptos"/>
              </a:rPr>
              <a:t>Intended Outcomes from this Meeting</a:t>
            </a:r>
            <a:endParaRPr sz="4000" b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9FC00-345D-483C-9ABD-520D5AE95515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2CCB1-C4E3-4672-A46C-C4231D0D4949}"/>
              </a:ext>
            </a:extLst>
          </p:cNvPr>
          <p:cNvSpPr>
            <a:spLocks noGrp="1"/>
          </p:cNvSpPr>
          <p:nvPr/>
        </p:nvSpPr>
        <p:spPr>
          <a:xfrm>
            <a:off x="838200" y="2117250"/>
            <a:ext cx="9906000" cy="3750433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 marL="457200" indent="-457200">
              <a:buFont typeface="Arial"/>
              <a:buChar char="•"/>
              <a:defRPr sz="1425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lang="en-US" sz="3200" dirty="0">
                <a:latin typeface="Aptos"/>
              </a:rPr>
              <a:t>*New – Product Limits vs. Product Funding</a:t>
            </a:r>
          </a:p>
          <a:p>
            <a:pPr marL="457200" indent="-457200">
              <a:buFont typeface="Arial"/>
              <a:buChar char="•"/>
              <a:defRPr sz="1425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lang="en-US" sz="3200" dirty="0">
                <a:latin typeface="Aptos"/>
              </a:rPr>
              <a:t>Understand basics of the finance model</a:t>
            </a:r>
            <a:endParaRPr lang="en-US" sz="1400" dirty="0"/>
          </a:p>
          <a:p>
            <a:pPr marL="457200" indent="-457200">
              <a:buFont typeface="Arial"/>
              <a:buChar char="•"/>
              <a:defRPr sz="1425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lang="en-US" sz="3200" dirty="0">
                <a:latin typeface="Aptos"/>
              </a:rPr>
              <a:t>Your role and how others participate</a:t>
            </a:r>
            <a:endParaRPr lang="en-US" sz="3200" dirty="0"/>
          </a:p>
          <a:p>
            <a:pPr marL="457200" indent="-457200">
              <a:buFont typeface="Arial"/>
              <a:buChar char="•"/>
              <a:defRPr sz="1425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lang="en-US" sz="3200" dirty="0">
                <a:latin typeface="Aptos"/>
              </a:rPr>
              <a:t>Reports to help you manage the financial health of your product</a:t>
            </a:r>
          </a:p>
          <a:p>
            <a:pPr marL="457200" indent="-457200">
              <a:buFont typeface="Arial"/>
              <a:buChar char="•"/>
              <a:defRPr sz="1425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lang="en-US" sz="3200" dirty="0">
                <a:latin typeface="Aptos"/>
              </a:rPr>
              <a:t>How projects will work with the new model</a:t>
            </a:r>
          </a:p>
          <a:p>
            <a:pPr>
              <a:defRPr sz="1425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endParaRPr lang="en-US" sz="1600" dirty="0">
              <a:latin typeface="Aptos"/>
            </a:endParaRPr>
          </a:p>
          <a:p>
            <a:pPr>
              <a:defRPr sz="1425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endParaRPr lang="en-US" sz="16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8566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DDB10-F1CE-E28B-9B28-9972B730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BA3BD7-47CD-9C47-0C0D-4B27863A7436}"/>
              </a:ext>
            </a:extLst>
          </p:cNvPr>
          <p:cNvSpPr txBox="1"/>
          <p:nvPr/>
        </p:nvSpPr>
        <p:spPr>
          <a:xfrm>
            <a:off x="613893" y="664074"/>
            <a:ext cx="10883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7324D"/>
                </a:solidFill>
                <a:latin typeface="Aptos" panose="020B0004020202020204" pitchFamily="34" charset="0"/>
              </a:rPr>
              <a:t>Balancing work between HQ and Areas</a:t>
            </a:r>
          </a:p>
        </p:txBody>
      </p:sp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EA3FCCB1-F2FB-4D3D-A5E3-FDAEC95BFD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8819FC00-345D-483C-9ABD-520D5AE95515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Matched Rounded Rectangle 15"/>
          <p:cNvSpPr/>
          <p:nvPr/>
        </p:nvSpPr>
        <p:spPr>
          <a:xfrm>
            <a:off x="822960" y="2075688"/>
            <a:ext cx="5074920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tched Rounded Rectangle 24"/>
          <p:cNvSpPr/>
          <p:nvPr/>
        </p:nvSpPr>
        <p:spPr>
          <a:xfrm>
            <a:off x="6263640" y="2075688"/>
            <a:ext cx="5074920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350008"/>
            <a:ext cx="45262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24D"/>
                </a:solidFill>
                <a:latin typeface="Aptos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62656"/>
            <a:ext cx="4434840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7324D"/>
                </a:solidFill>
                <a:latin typeface="Aptos"/>
              </a:rPr>
              <a:t>HQ </a:t>
            </a:r>
            <a:r>
              <a:rPr lang="en-US" sz="2800" b="0">
                <a:solidFill>
                  <a:srgbClr val="17324D"/>
                </a:solidFill>
                <a:latin typeface="Aptos"/>
              </a:rPr>
              <a:t>initiates</a:t>
            </a:r>
            <a:r>
              <a:rPr sz="2800" b="0">
                <a:solidFill>
                  <a:srgbClr val="17324D"/>
                </a:solidFill>
                <a:latin typeface="Aptos"/>
              </a:rPr>
              <a:t> most
of the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50008"/>
            <a:ext cx="452628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2D8C8C"/>
                </a:solidFill>
                <a:latin typeface="Aptos"/>
              </a:rPr>
              <a:t>The Future</a:t>
            </a:r>
            <a:endParaRPr sz="240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60" y="2962656"/>
            <a:ext cx="4434840" cy="8961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7324D"/>
                </a:solidFill>
                <a:latin typeface="Aptos"/>
              </a:rPr>
              <a:t>A more balanced mix
across HQ and </a:t>
            </a:r>
            <a:r>
              <a:rPr lang="en-US" sz="2800">
                <a:solidFill>
                  <a:srgbClr val="17324D"/>
                </a:solidFill>
                <a:latin typeface="Aptos"/>
              </a:rPr>
              <a:t>Areas</a:t>
            </a:r>
            <a:endParaRPr sz="2800" b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6" name="Matched Rounded Rectangle 29"/>
          <p:cNvSpPr/>
          <p:nvPr/>
        </p:nvSpPr>
        <p:spPr>
          <a:xfrm>
            <a:off x="838200" y="5333619"/>
            <a:ext cx="10515600" cy="786384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7656" y="5521071"/>
            <a:ext cx="100584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Simpler processes make this shift possible.</a:t>
            </a:r>
          </a:p>
        </p:txBody>
      </p:sp>
    </p:spTree>
    <p:extLst>
      <p:ext uri="{BB962C8B-B14F-4D97-AF65-F5344CB8AC3E}">
        <p14:creationId xmlns:p14="http://schemas.microsoft.com/office/powerpoint/2010/main" val="97178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685799" y="3196467"/>
            <a:ext cx="5249779" cy="295630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/>
          <p:cNvSpPr txBox="1"/>
          <p:nvPr/>
        </p:nvSpPr>
        <p:spPr>
          <a:xfrm>
            <a:off x="960120" y="4037714"/>
            <a:ext cx="4692280" cy="1714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pPr>
            <a:r>
              <a:rPr lang="en-US" sz="2400" b="0" dirty="0">
                <a:solidFill>
                  <a:srgbClr val="5D6B76"/>
                </a:solidFill>
                <a:latin typeface="Aptos" panose="020B0004020202020204" pitchFamily="34" charset="0"/>
              </a:rPr>
              <a:t>Today's model is complex and does not scale to a global </a:t>
            </a:r>
            <a:r>
              <a:rPr lang="en-US" sz="2400" dirty="0">
                <a:solidFill>
                  <a:srgbClr val="5D6B76"/>
                </a:solidFill>
                <a:latin typeface="Aptos" panose="020B0004020202020204" pitchFamily="34" charset="0"/>
              </a:rPr>
              <a:t>operation</a:t>
            </a:r>
            <a:r>
              <a:rPr lang="en-US" sz="2400" b="0" dirty="0">
                <a:solidFill>
                  <a:srgbClr val="5D6B76"/>
                </a:solidFill>
                <a:latin typeface="Aptos" panose="020B0004020202020204" pitchFamily="34" charset="0"/>
              </a:rPr>
              <a:t>. Too many inputs, too much admin.</a:t>
            </a:r>
            <a:br>
              <a:rPr lang="en-US" sz="2400" dirty="0">
                <a:latin typeface="Aptos" panose="020B0004020202020204" pitchFamily="34" charset="0"/>
              </a:rPr>
            </a:br>
            <a:br>
              <a:rPr lang="en-US" sz="2400" dirty="0">
                <a:latin typeface="Aptos" panose="020B0004020202020204" pitchFamily="34" charset="0"/>
              </a:rPr>
            </a:br>
            <a:br>
              <a:rPr lang="en-US" sz="2400" dirty="0">
                <a:latin typeface="Aptos" panose="020B0004020202020204" pitchFamily="34" charset="0"/>
              </a:rPr>
            </a:br>
            <a:endParaRPr lang="en-US" sz="2400" b="0" dirty="0">
              <a:solidFill>
                <a:srgbClr val="5D6B7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36791" y="3196467"/>
            <a:ext cx="5249779" cy="295630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EA3FCCB1-F2FB-4D3D-A5E3-FDAEC95BFD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A1A882E6-B10A-45E5-8778-FD626EC02831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000" b="1" dirty="0">
                <a:solidFill>
                  <a:srgbClr val="17324D"/>
                </a:solidFill>
                <a:latin typeface="Aptos"/>
              </a:rPr>
              <a:t>Simplifying production accountability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4037714"/>
            <a:ext cx="4692280" cy="1714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pPr>
            <a:r>
              <a:rPr lang="en-US" sz="2400" b="0" dirty="0">
                <a:solidFill>
                  <a:srgbClr val="5D6B76"/>
                </a:solidFill>
                <a:latin typeface="Aptos"/>
              </a:rPr>
              <a:t>Fewer, simpler inputs give us more accurate data on the effort behind every piece of content.</a:t>
            </a:r>
            <a:endParaRPr lang="en-US" sz="3200" b="0" dirty="0">
              <a:solidFill>
                <a:srgbClr val="5D6B76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8819FC00-345D-483C-9ABD-520D5AE95515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5968" y="1991524"/>
            <a:ext cx="10817352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17324D"/>
                </a:solidFill>
                <a:latin typeface="Aptos"/>
              </a:rPr>
              <a:t>Simpler finances mean fewer data inputs and more accurate production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434210"/>
            <a:ext cx="4274156" cy="614911"/>
          </a:xfrm>
          <a:prstGeom prst="rect">
            <a:avLst/>
          </a:prstGeom>
          <a:noFill/>
        </p:spPr>
        <p:txBody>
          <a:bodyPr wrap="square" lIns="27432" tIns="18288" r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17324D"/>
                </a:solidFill>
                <a:latin typeface="Aptos"/>
              </a:rPr>
              <a:t>Current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434210"/>
            <a:ext cx="4274156" cy="614911"/>
          </a:xfrm>
          <a:prstGeom prst="rect">
            <a:avLst/>
          </a:prstGeom>
          <a:noFill/>
        </p:spPr>
        <p:txBody>
          <a:bodyPr wrap="square" lIns="27432" tIns="18288" r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2D8C8C"/>
                </a:solidFill>
                <a:latin typeface="Aptos"/>
              </a:rPr>
              <a:t>Why simplify</a:t>
            </a:r>
          </a:p>
        </p:txBody>
      </p:sp>
      <p:pic>
        <p:nvPicPr>
          <p:cNvPr id="16" name="Picture 15" descr="icon-warning-bfcb5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3425066"/>
            <a:ext cx="496659" cy="496659"/>
          </a:xfrm>
          <a:prstGeom prst="rect">
            <a:avLst/>
          </a:prstGeom>
        </p:spPr>
      </p:pic>
      <p:pic>
        <p:nvPicPr>
          <p:cNvPr id="17" name="Picture 16" descr="icon-checkmark-circle-8e38d9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1" y="3425066"/>
            <a:ext cx="496659" cy="4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0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/>
      <p:bldP spid="15" grpId="0" animBg="1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00A9-95D9-97DA-FA0E-6460606B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5F6137-CA18-D965-7E16-B28AD37CABE8}"/>
              </a:ext>
            </a:extLst>
          </p:cNvPr>
          <p:cNvSpPr/>
          <p:nvPr/>
        </p:nvSpPr>
        <p:spPr>
          <a:xfrm>
            <a:off x="685800" y="2194560"/>
            <a:ext cx="3337560" cy="391363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D648F-2F02-CF78-1228-957258864065}"/>
              </a:ext>
            </a:extLst>
          </p:cNvPr>
          <p:cNvSpPr txBox="1"/>
          <p:nvPr/>
        </p:nvSpPr>
        <p:spPr>
          <a:xfrm>
            <a:off x="914400" y="3154680"/>
            <a:ext cx="288036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17324D"/>
                </a:solidFill>
                <a:latin typeface="Aptos"/>
              </a:rPr>
              <a:t>Flexibility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C93C8-C169-48CF-10A8-DCE7FC469287}"/>
              </a:ext>
            </a:extLst>
          </p:cNvPr>
          <p:cNvSpPr txBox="1"/>
          <p:nvPr/>
        </p:nvSpPr>
        <p:spPr>
          <a:xfrm>
            <a:off x="960120" y="3794760"/>
            <a:ext cx="278892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5D6B76"/>
                </a:solidFill>
                <a:latin typeface="Aptos"/>
              </a:rPr>
              <a:t>Hyper-detailed tracking of product and project work isn’t sustainable or useful for small teams.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84C8AE-6614-3CC7-95C5-F96FDB63E51B}"/>
              </a:ext>
            </a:extLst>
          </p:cNvPr>
          <p:cNvSpPr/>
          <p:nvPr/>
        </p:nvSpPr>
        <p:spPr>
          <a:xfrm>
            <a:off x="4425696" y="2194560"/>
            <a:ext cx="3337560" cy="391363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146F8-2DBE-D417-B570-0B64A4C29BC1}"/>
              </a:ext>
            </a:extLst>
          </p:cNvPr>
          <p:cNvSpPr txBox="1"/>
          <p:nvPr/>
        </p:nvSpPr>
        <p:spPr>
          <a:xfrm>
            <a:off x="4654296" y="3154680"/>
            <a:ext cx="288036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17324D"/>
                </a:solidFill>
                <a:latin typeface="Aptos"/>
              </a:rPr>
              <a:t>Accountability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526652-4259-E7E9-0598-F6C40B8123E8}"/>
              </a:ext>
            </a:extLst>
          </p:cNvPr>
          <p:cNvSpPr txBox="1"/>
          <p:nvPr/>
        </p:nvSpPr>
        <p:spPr>
          <a:xfrm>
            <a:off x="4700016" y="3794760"/>
            <a:ext cx="278892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5D6B76"/>
                </a:solidFill>
                <a:latin typeface="Aptos"/>
              </a:rPr>
              <a:t>Leaders need an accurate view of key metrics to make informed business decisions.</a:t>
            </a:r>
            <a:endParaRPr lang="en-US" sz="2000" b="0" i="0" dirty="0">
              <a:solidFill>
                <a:srgbClr val="5D6B76"/>
              </a:solidFill>
              <a:latin typeface="Apto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D19FDB-B7DA-1AE1-3293-6BE45F0ED201}"/>
              </a:ext>
            </a:extLst>
          </p:cNvPr>
          <p:cNvSpPr/>
          <p:nvPr/>
        </p:nvSpPr>
        <p:spPr>
          <a:xfrm>
            <a:off x="8165592" y="2194560"/>
            <a:ext cx="3337560" cy="3913632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FB4989-3022-609F-C76E-B5F8AEE9220E}"/>
              </a:ext>
            </a:extLst>
          </p:cNvPr>
          <p:cNvSpPr txBox="1"/>
          <p:nvPr/>
        </p:nvSpPr>
        <p:spPr>
          <a:xfrm>
            <a:off x="8394192" y="3154680"/>
            <a:ext cx="2880360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i="0">
                <a:solidFill>
                  <a:srgbClr val="17324D"/>
                </a:solidFill>
                <a:latin typeface="Aptos"/>
              </a:rPr>
              <a:t>Global Alignment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6AAAC8-0F23-AFE0-6CA7-602F87D31A7E}"/>
              </a:ext>
            </a:extLst>
          </p:cNvPr>
          <p:cNvSpPr txBox="1"/>
          <p:nvPr/>
        </p:nvSpPr>
        <p:spPr>
          <a:xfrm>
            <a:off x="8439912" y="3794760"/>
            <a:ext cx="2788920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5D6B76"/>
                </a:solidFill>
              </a:rPr>
              <a:t>One global process — the same for HQ and Areas — so metrics and workflows compare across the organization.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D90CA-DAC0-0A80-691F-853C6DAC199D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l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What must the new process deliver?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B95B5C-1C0B-9C81-3198-6221307D25B2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902" name="Picture 9901" descr="icon-arrow-expand-238c33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548640" cy="548640"/>
          </a:xfrm>
          <a:prstGeom prst="rect">
            <a:avLst/>
          </a:prstGeom>
        </p:spPr>
      </p:pic>
      <p:pic>
        <p:nvPicPr>
          <p:cNvPr id="9903" name="Picture 9902" descr="icon-checkmark-circle-3676c1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514600"/>
            <a:ext cx="548640" cy="548640"/>
          </a:xfrm>
          <a:prstGeom prst="rect">
            <a:avLst/>
          </a:prstGeom>
        </p:spPr>
      </p:pic>
      <p:pic>
        <p:nvPicPr>
          <p:cNvPr id="9904" name="Picture 9903" descr="icon-globe-a55e34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51460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F3D5613-ED20-494C-83C3-D9B5C83FFD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303B2-A959-42AE-AAD0-AB1A5D34A96E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000" b="1" dirty="0">
                <a:solidFill>
                  <a:srgbClr val="17324D"/>
                </a:solidFill>
                <a:latin typeface="Aptos"/>
              </a:rPr>
              <a:t>Financial responsibility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06A2B2-878B-425E-BD26-C387A02B3B7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822960" y="1965960"/>
            <a:ext cx="3331254" cy="3270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ounded Rectangle 16"/>
          <p:cNvSpPr/>
          <p:nvPr/>
        </p:nvSpPr>
        <p:spPr>
          <a:xfrm>
            <a:off x="1051559" y="2167565"/>
            <a:ext cx="2793955" cy="748077"/>
          </a:xfrm>
          <a:prstGeom prst="roundRect">
            <a:avLst/>
          </a:prstGeom>
          <a:solidFill>
            <a:srgbClr val="2D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Product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5884" y="3223496"/>
            <a:ext cx="2427650" cy="143940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2800" b="0" i="0" dirty="0">
                <a:solidFill>
                  <a:srgbClr val="1E2A33"/>
                </a:solidFill>
                <a:latin typeface="Aptos"/>
              </a:rPr>
              <a:t>Owns </a:t>
            </a:r>
            <a:r>
              <a:rPr sz="2800" b="0" i="0" u="sng" dirty="0">
                <a:solidFill>
                  <a:srgbClr val="1E2A33"/>
                </a:solidFill>
                <a:latin typeface="Aptos"/>
              </a:rPr>
              <a:t>product</a:t>
            </a:r>
            <a:r>
              <a:rPr sz="2800" b="0" i="0" dirty="0">
                <a:solidFill>
                  <a:srgbClr val="1E2A33"/>
                </a:solidFill>
                <a:latin typeface="Aptos"/>
              </a:rPr>
              <a:t> </a:t>
            </a:r>
            <a:r>
              <a:rPr lang="en-US" sz="2800" b="0" i="0" dirty="0">
                <a:solidFill>
                  <a:srgbClr val="1E2A33"/>
                </a:solidFill>
                <a:latin typeface="Aptos"/>
              </a:rPr>
              <a:t>budget and</a:t>
            </a:r>
            <a:r>
              <a:rPr sz="2800" b="0" i="0" dirty="0">
                <a:solidFill>
                  <a:srgbClr val="1E2A33"/>
                </a:solidFill>
                <a:latin typeface="Aptos"/>
              </a:rPr>
              <a:t> approves the </a:t>
            </a:r>
            <a:r>
              <a:rPr lang="en-US" sz="2800" b="0" i="0" u="sng" dirty="0">
                <a:solidFill>
                  <a:srgbClr val="1E2A33"/>
                </a:solidFill>
                <a:latin typeface="Aptos"/>
              </a:rPr>
              <a:t>project </a:t>
            </a:r>
            <a:r>
              <a:rPr sz="2800" b="0" i="0" u="sng" dirty="0">
                <a:solidFill>
                  <a:srgbClr val="1E2A33"/>
                </a:solidFill>
                <a:latin typeface="Aptos"/>
              </a:rPr>
              <a:t>bid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965960"/>
            <a:ext cx="3331254" cy="3270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ounded Rectangle 19"/>
          <p:cNvSpPr/>
          <p:nvPr/>
        </p:nvSpPr>
        <p:spPr>
          <a:xfrm>
            <a:off x="4416553" y="2167565"/>
            <a:ext cx="3002066" cy="748077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Production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934" y="3223496"/>
            <a:ext cx="2525305" cy="15650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1E2A33"/>
                </a:solidFill>
                <a:latin typeface="Aptos"/>
              </a:rPr>
              <a:t>Owns </a:t>
            </a:r>
            <a:r>
              <a:rPr lang="en-US" sz="2800" b="0" i="0" u="sng" dirty="0">
                <a:solidFill>
                  <a:srgbClr val="1E2A33"/>
                </a:solidFill>
                <a:latin typeface="Aptos"/>
              </a:rPr>
              <a:t>project</a:t>
            </a:r>
            <a:r>
              <a:rPr lang="en-US" sz="2800" b="0" i="0" dirty="0">
                <a:solidFill>
                  <a:srgbClr val="1E2A33"/>
                </a:solidFill>
                <a:latin typeface="Aptos"/>
              </a:rPr>
              <a:t> budget and manages the </a:t>
            </a:r>
            <a:r>
              <a:rPr lang="en-US" sz="2800" b="0" i="0" u="sng" dirty="0">
                <a:solidFill>
                  <a:srgbClr val="1E2A33"/>
                </a:solidFill>
                <a:latin typeface="Aptos"/>
              </a:rPr>
              <a:t>cost pool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965960"/>
            <a:ext cx="3331254" cy="3270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7909557" y="2167565"/>
            <a:ext cx="2793955" cy="748077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2400" b="1">
                <a:solidFill>
                  <a:srgbClr val="17324D"/>
                </a:solidFill>
                <a:latin typeface="Aptos"/>
              </a:rPr>
              <a:t>Area Director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934" y="3117247"/>
            <a:ext cx="2525305" cy="154565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lang="en-US" sz="2800" b="0" i="0" dirty="0">
                <a:solidFill>
                  <a:srgbClr val="1E2A33"/>
                </a:solidFill>
                <a:latin typeface="Aptos"/>
              </a:rPr>
              <a:t>Owns health of the</a:t>
            </a:r>
            <a:r>
              <a:rPr lang="en-US" sz="2800" dirty="0">
                <a:solidFill>
                  <a:srgbClr val="1E2A33"/>
                </a:solidFill>
                <a:latin typeface="Aptos"/>
              </a:rPr>
              <a:t> </a:t>
            </a:r>
            <a:r>
              <a:rPr lang="en-US" sz="2800" b="0" i="0" u="sng" dirty="0">
                <a:solidFill>
                  <a:srgbClr val="1E2A33"/>
                </a:solidFill>
                <a:latin typeface="Aptos"/>
              </a:rPr>
              <a:t>entire</a:t>
            </a:r>
            <a:r>
              <a:rPr lang="en-US" sz="2800" b="0" i="0" dirty="0">
                <a:solidFill>
                  <a:srgbClr val="1E2A33"/>
                </a:solidFill>
                <a:latin typeface="Aptos"/>
              </a:rPr>
              <a:t> organization</a:t>
            </a:r>
          </a:p>
        </p:txBody>
      </p:sp>
    </p:spTree>
    <p:extLst>
      <p:ext uri="{BB962C8B-B14F-4D97-AF65-F5344CB8AC3E}">
        <p14:creationId xmlns:p14="http://schemas.microsoft.com/office/powerpoint/2010/main" val="136072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 animBg="1"/>
      <p:bldP spid="20" grpId="0" animBg="1"/>
      <p:bldP spid="21" grpId="0"/>
      <p:bldP spid="22" grpId="0" animBg="1"/>
      <p:bldP spid="23" grpId="0" animBg="1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C3FC7-CDEB-D07D-2BF4-9F3963B2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275DDB3A-DF9D-754A-7306-FAA37F92A0C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1D1968EC-C4BF-E14A-9CEA-937DC61A5B1A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New Product Request</a:t>
            </a:r>
            <a:endParaRPr sz="4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81706005-A614-B2A0-8EF1-899A9AF78AC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A64443-9133-21F9-E0BF-621CD284330D}"/>
              </a:ext>
            </a:extLst>
          </p:cNvPr>
          <p:cNvSpPr txBox="1"/>
          <p:nvPr/>
        </p:nvSpPr>
        <p:spPr>
          <a:xfrm>
            <a:off x="675968" y="1991523"/>
            <a:ext cx="7610782" cy="416124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Welfare and Self-Reliance has a new cereal that they are developing to provide a nutritious breakfast around the world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7324D"/>
              </a:solidFill>
              <a:latin typeface="Aptos"/>
            </a:endParaRP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They would like CPD support in promoting this in your area in 2027</a:t>
            </a: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7324D"/>
              </a:solidFill>
              <a:latin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The product is aligned with the area plan, and the Area President has approved moving forward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7324D"/>
              </a:solidFill>
              <a:latin typeface="Aptos"/>
            </a:endParaRPr>
          </a:p>
          <a:p>
            <a:pPr marL="457200" indent="-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They have called the new product</a:t>
            </a:r>
          </a:p>
          <a:p>
            <a:pPr algn="l">
              <a:spcBef>
                <a:spcPts val="0"/>
              </a:spcBef>
            </a:pPr>
            <a:endParaRPr lang="en-US" sz="2400" dirty="0">
              <a:solidFill>
                <a:srgbClr val="17324D"/>
              </a:solidFill>
              <a:latin typeface="Aptos"/>
            </a:endParaRPr>
          </a:p>
          <a:p>
            <a:pPr lvl="3"/>
            <a:r>
              <a:rPr lang="en-US" sz="2800" b="1" dirty="0">
                <a:solidFill>
                  <a:srgbClr val="17324D"/>
                </a:solidFill>
                <a:latin typeface="Aptos"/>
              </a:rPr>
              <a:t>	Captain Rob’s Jorgen-O’s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62EB9-92D4-DBA5-2960-BF97530BB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262" y="1888954"/>
            <a:ext cx="4126250" cy="436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4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AF66-E30F-19B3-52AA-E2B6D9E6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4E6B690C-17E2-934C-BDE5-211ADA378DF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ACCA4180-0942-0884-6932-60E33BDE4323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Create a Product Plan</a:t>
            </a:r>
            <a:endParaRPr sz="4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E69B8B27-6EDE-A5AC-01C2-309BE1C421B3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AC36B6-15CA-A5C7-D9AF-6EECB349F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18426"/>
              </p:ext>
            </p:extLst>
          </p:nvPr>
        </p:nvGraphicFramePr>
        <p:xfrm>
          <a:off x="685800" y="2056065"/>
          <a:ext cx="10811256" cy="414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5961">
                  <a:extLst>
                    <a:ext uri="{9D8B030D-6E8A-4147-A177-3AD203B41FA5}">
                      <a16:colId xmlns:a16="http://schemas.microsoft.com/office/drawing/2014/main" val="3225493563"/>
                    </a:ext>
                  </a:extLst>
                </a:gridCol>
                <a:gridCol w="522569">
                  <a:extLst>
                    <a:ext uri="{9D8B030D-6E8A-4147-A177-3AD203B41FA5}">
                      <a16:colId xmlns:a16="http://schemas.microsoft.com/office/drawing/2014/main" val="3667891410"/>
                    </a:ext>
                  </a:extLst>
                </a:gridCol>
                <a:gridCol w="4912726">
                  <a:extLst>
                    <a:ext uri="{9D8B030D-6E8A-4147-A177-3AD203B41FA5}">
                      <a16:colId xmlns:a16="http://schemas.microsoft.com/office/drawing/2014/main" val="1039872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b="1" dirty="0"/>
                        <a:t>Product Strategy</a:t>
                      </a:r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Production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99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Problem and opportunity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Package Design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6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Target audience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Social Media Posts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0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Vision and strategy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Brand Book Creation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27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Goals and success metrics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Launch Event Broadcast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38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Scope and requirements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Promotion Video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5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Email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9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80878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1678722-1FF0-D4A7-AED0-BA33AFD89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148D1D-1C5A-2AA7-43ED-BDBC4E36624C}"/>
              </a:ext>
            </a:extLst>
          </p:cNvPr>
          <p:cNvSpPr/>
          <p:nvPr/>
        </p:nvSpPr>
        <p:spPr>
          <a:xfrm>
            <a:off x="6495668" y="2056065"/>
            <a:ext cx="4805745" cy="405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1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0C13-020D-EAFB-A76C-B313DA46A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A4B91EB9-81C7-458A-F228-C720EDEBE10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5F961ADD-D172-4DC9-3BCA-27D31A22A3F4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Create a Product Plan</a:t>
            </a:r>
            <a:endParaRPr sz="4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E020EEA3-05B4-AE39-A24F-F7FFC06AEED9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D510AD-D45C-4344-AAA3-79D44DA34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16545"/>
              </p:ext>
            </p:extLst>
          </p:nvPr>
        </p:nvGraphicFramePr>
        <p:xfrm>
          <a:off x="685800" y="2056065"/>
          <a:ext cx="10811257" cy="414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3225493563"/>
                    </a:ext>
                  </a:extLst>
                </a:gridCol>
                <a:gridCol w="1804087">
                  <a:extLst>
                    <a:ext uri="{9D8B030D-6E8A-4147-A177-3AD203B41FA5}">
                      <a16:colId xmlns:a16="http://schemas.microsoft.com/office/drawing/2014/main" val="1835832015"/>
                    </a:ext>
                  </a:extLst>
                </a:gridCol>
                <a:gridCol w="522569">
                  <a:extLst>
                    <a:ext uri="{9D8B030D-6E8A-4147-A177-3AD203B41FA5}">
                      <a16:colId xmlns:a16="http://schemas.microsoft.com/office/drawing/2014/main" val="3667891410"/>
                    </a:ext>
                  </a:extLst>
                </a:gridCol>
                <a:gridCol w="4912726">
                  <a:extLst>
                    <a:ext uri="{9D8B030D-6E8A-4147-A177-3AD203B41FA5}">
                      <a16:colId xmlns:a16="http://schemas.microsoft.com/office/drawing/2014/main" val="103987250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Production Estimates</a:t>
                      </a:r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Production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99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Package Design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6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Social Media Posts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0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Brand Book Creation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27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30,000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Launch Event Broadcast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38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Promotion Video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5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FontTx/>
                        <a:buNone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FontTx/>
                        <a:buNone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Email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89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  Total Plan     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100,000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8259943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8BF05CC-3086-EC79-3163-CA78E9B9D2D5}"/>
              </a:ext>
            </a:extLst>
          </p:cNvPr>
          <p:cNvSpPr/>
          <p:nvPr/>
        </p:nvSpPr>
        <p:spPr>
          <a:xfrm>
            <a:off x="694943" y="2680141"/>
            <a:ext cx="5800725" cy="2957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109C4-82BA-7A8A-32BB-A77D8DE27793}"/>
              </a:ext>
            </a:extLst>
          </p:cNvPr>
          <p:cNvSpPr/>
          <p:nvPr/>
        </p:nvSpPr>
        <p:spPr>
          <a:xfrm>
            <a:off x="424244" y="1973581"/>
            <a:ext cx="5800725" cy="64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3E875A-AF1D-A511-4E91-6355695F52A2}"/>
              </a:ext>
            </a:extLst>
          </p:cNvPr>
          <p:cNvSpPr/>
          <p:nvPr/>
        </p:nvSpPr>
        <p:spPr>
          <a:xfrm>
            <a:off x="676655" y="5638035"/>
            <a:ext cx="10820401" cy="64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2BE22F-E34A-117F-494C-020198731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65D6-3ECE-8AA3-EE71-750C4B77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E657314C-398D-C45E-7DD4-7CAB72A3E74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901EAC17-1B70-542A-E3D0-7F44522B4566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Create a Product Plan</a:t>
            </a:r>
            <a:endParaRPr sz="4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23DACC89-654E-6C9B-E6AF-D9F5667F3EF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80781D-19C6-DCFE-A900-70E2DDAFC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119360"/>
              </p:ext>
            </p:extLst>
          </p:nvPr>
        </p:nvGraphicFramePr>
        <p:xfrm>
          <a:off x="685800" y="2056065"/>
          <a:ext cx="10811257" cy="414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3225493563"/>
                    </a:ext>
                  </a:extLst>
                </a:gridCol>
                <a:gridCol w="1804087">
                  <a:extLst>
                    <a:ext uri="{9D8B030D-6E8A-4147-A177-3AD203B41FA5}">
                      <a16:colId xmlns:a16="http://schemas.microsoft.com/office/drawing/2014/main" val="1835832015"/>
                    </a:ext>
                  </a:extLst>
                </a:gridCol>
                <a:gridCol w="522569">
                  <a:extLst>
                    <a:ext uri="{9D8B030D-6E8A-4147-A177-3AD203B41FA5}">
                      <a16:colId xmlns:a16="http://schemas.microsoft.com/office/drawing/2014/main" val="3667891410"/>
                    </a:ext>
                  </a:extLst>
                </a:gridCol>
                <a:gridCol w="4912726">
                  <a:extLst>
                    <a:ext uri="{9D8B030D-6E8A-4147-A177-3AD203B41FA5}">
                      <a16:colId xmlns:a16="http://schemas.microsoft.com/office/drawing/2014/main" val="103987250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Production Estimates</a:t>
                      </a:r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Production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99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Package Design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6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Social Media Posts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0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Brand Book Creation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27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30,000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Launch Event Broadcast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38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Promotion Video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5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FontTx/>
                        <a:buNone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FontTx/>
                        <a:buNone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Email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89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  Total Plan     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100,000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82599435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14528CDA-C11C-7DF6-0B36-375696801E79}"/>
              </a:ext>
            </a:extLst>
          </p:cNvPr>
          <p:cNvSpPr/>
          <p:nvPr/>
        </p:nvSpPr>
        <p:spPr>
          <a:xfrm>
            <a:off x="1685925" y="5514974"/>
            <a:ext cx="4843463" cy="900112"/>
          </a:xfrm>
          <a:prstGeom prst="ellipse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F69CC0-7721-39C3-A6CC-D5E9D9D08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84"/>
          <a:stretch>
            <a:fillRect/>
          </a:stretch>
        </p:blipFill>
        <p:spPr>
          <a:xfrm>
            <a:off x="3295841" y="705231"/>
            <a:ext cx="5479256" cy="54994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A8A4C0-2463-8482-9940-C54B550C0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0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A5EB-DB16-31CC-83B2-2D24124E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743BC1D6-C92E-AD12-CC35-628AEA675B4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3C73DBA0-75D0-B75A-9C1E-59065EC6644F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Product Limit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9BEC9CEA-2710-6EC2-10EC-C327EFF99B9A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7B1E13-8B21-AEED-661D-4DCED3D06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2225866"/>
            <a:ext cx="4232084" cy="423208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613007-2B5B-B250-C326-D611399CC7A5}"/>
              </a:ext>
            </a:extLst>
          </p:cNvPr>
          <p:cNvSpPr/>
          <p:nvPr/>
        </p:nvSpPr>
        <p:spPr>
          <a:xfrm>
            <a:off x="7589520" y="2247519"/>
            <a:ext cx="3337560" cy="2311647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A8BD0-9BD5-3643-0125-8C542A580936}"/>
              </a:ext>
            </a:extLst>
          </p:cNvPr>
          <p:cNvSpPr txBox="1"/>
          <p:nvPr/>
        </p:nvSpPr>
        <p:spPr>
          <a:xfrm>
            <a:off x="7818120" y="2576785"/>
            <a:ext cx="2880360" cy="5437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en-US" sz="2400" b="1" dirty="0">
                <a:solidFill>
                  <a:srgbClr val="17324D"/>
                </a:solidFill>
                <a:latin typeface="Aptos"/>
              </a:rPr>
              <a:t>Product Limit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9F129-0647-FF63-3421-DC83C31985BF}"/>
              </a:ext>
            </a:extLst>
          </p:cNvPr>
          <p:cNvSpPr txBox="1"/>
          <p:nvPr/>
        </p:nvSpPr>
        <p:spPr>
          <a:xfrm>
            <a:off x="7818120" y="3144915"/>
            <a:ext cx="2788920" cy="1162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sz="2000" dirty="0">
                <a:solidFill>
                  <a:srgbClr val="5D6B76"/>
                </a:solidFill>
                <a:latin typeface="Aptos"/>
              </a:rPr>
              <a:t>The amount a product is approved for and cannot be exceeded.</a:t>
            </a:r>
          </a:p>
          <a:p>
            <a:pPr>
              <a:lnSpc>
                <a:spcPct val="112000"/>
              </a:lnSpc>
            </a:pPr>
            <a:endParaRPr lang="en-US" sz="2000" dirty="0">
              <a:solidFill>
                <a:srgbClr val="5D6B76"/>
              </a:solidFill>
              <a:latin typeface="Aptos"/>
            </a:endParaRPr>
          </a:p>
          <a:p>
            <a:pPr>
              <a:lnSpc>
                <a:spcPct val="112000"/>
              </a:lnSpc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E9E443-BD8C-D5B7-1311-19D0DA15A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87" y="4559166"/>
            <a:ext cx="2042045" cy="2042045"/>
          </a:xfrm>
          <a:prstGeom prst="rect">
            <a:avLst/>
          </a:prstGeom>
        </p:spPr>
      </p:pic>
      <p:sp>
        <p:nvSpPr>
          <p:cNvPr id="17" name="Matched Rectangle 1">
            <a:extLst>
              <a:ext uri="{FF2B5EF4-FFF2-40B4-BE49-F238E27FC236}">
                <a16:creationId xmlns:a16="http://schemas.microsoft.com/office/drawing/2014/main" id="{5A6AE14C-3D56-4C69-7F72-AFEA75161E0C}"/>
              </a:ext>
            </a:extLst>
          </p:cNvPr>
          <p:cNvSpPr>
            <a:spLocks noGrp="1"/>
          </p:cNvSpPr>
          <p:nvPr/>
        </p:nvSpPr>
        <p:spPr>
          <a:xfrm>
            <a:off x="8600998" y="5629275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$100,000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8" name="Matched Rectangle 1">
            <a:extLst>
              <a:ext uri="{FF2B5EF4-FFF2-40B4-BE49-F238E27FC236}">
                <a16:creationId xmlns:a16="http://schemas.microsoft.com/office/drawing/2014/main" id="{9C6E57E5-B25C-3F0A-A36E-053AD4ECE439}"/>
              </a:ext>
            </a:extLst>
          </p:cNvPr>
          <p:cNvSpPr>
            <a:spLocks noGrp="1"/>
          </p:cNvSpPr>
          <p:nvPr/>
        </p:nvSpPr>
        <p:spPr>
          <a:xfrm>
            <a:off x="1668091" y="5905500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$100,000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9" name="Matched Rectangle 1">
            <a:extLst>
              <a:ext uri="{FF2B5EF4-FFF2-40B4-BE49-F238E27FC236}">
                <a16:creationId xmlns:a16="http://schemas.microsoft.com/office/drawing/2014/main" id="{63DD36DB-9530-3BEE-BD2A-3ED78159742C}"/>
              </a:ext>
            </a:extLst>
          </p:cNvPr>
          <p:cNvSpPr>
            <a:spLocks noGrp="1"/>
          </p:cNvSpPr>
          <p:nvPr/>
        </p:nvSpPr>
        <p:spPr>
          <a:xfrm>
            <a:off x="96402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Product Limit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83156D-D3DE-8D40-537A-41227FC17D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5EF98A-7F70-584C-532F-379B2EC489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84"/>
          <a:stretch>
            <a:fillRect/>
          </a:stretch>
        </p:blipFill>
        <p:spPr>
          <a:xfrm>
            <a:off x="9258300" y="4583532"/>
            <a:ext cx="1151044" cy="11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5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2 -0.00533 L -0.37982 -0.18542 " pathEditMode="relative" ptsTypes="AA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AEFC-2BC2-2B5C-2C29-4884854F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tched Rectangle 1">
            <a:extLst>
              <a:ext uri="{FF2B5EF4-FFF2-40B4-BE49-F238E27FC236}">
                <a16:creationId xmlns:a16="http://schemas.microsoft.com/office/drawing/2014/main" id="{0D71D5C3-9F80-1A62-BDF9-3FD14900ACE4}"/>
              </a:ext>
            </a:extLst>
          </p:cNvPr>
          <p:cNvSpPr>
            <a:spLocks noGrp="1"/>
          </p:cNvSpPr>
          <p:nvPr/>
        </p:nvSpPr>
        <p:spPr>
          <a:xfrm>
            <a:off x="6774274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17324D"/>
              </a:solidFill>
              <a:latin typeface="Aptos"/>
            </a:endParaRP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Funded Product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65A64281-81D7-079F-1322-85FD2E32BE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3FDACEDD-1345-6ECB-A1F0-DE1DFF05154D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Product Funding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BCE683B4-B4AE-E59D-910F-5902C354E266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B8046-7ADA-6E93-0E14-593ADBC6B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2225866"/>
            <a:ext cx="4232084" cy="4232084"/>
          </a:xfrm>
          <a:prstGeom prst="rect">
            <a:avLst/>
          </a:prstGeom>
        </p:spPr>
      </p:pic>
      <p:sp>
        <p:nvSpPr>
          <p:cNvPr id="18" name="Matched Rectangle 1">
            <a:extLst>
              <a:ext uri="{FF2B5EF4-FFF2-40B4-BE49-F238E27FC236}">
                <a16:creationId xmlns:a16="http://schemas.microsoft.com/office/drawing/2014/main" id="{BDD72944-A996-6718-6534-BF517F7AA392}"/>
              </a:ext>
            </a:extLst>
          </p:cNvPr>
          <p:cNvSpPr>
            <a:spLocks noGrp="1"/>
          </p:cNvSpPr>
          <p:nvPr/>
        </p:nvSpPr>
        <p:spPr>
          <a:xfrm>
            <a:off x="1668091" y="5905500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$100,000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9" name="Matched Rectangle 1">
            <a:extLst>
              <a:ext uri="{FF2B5EF4-FFF2-40B4-BE49-F238E27FC236}">
                <a16:creationId xmlns:a16="http://schemas.microsoft.com/office/drawing/2014/main" id="{F44CA0B2-BC35-F704-3526-241B06CC763B}"/>
              </a:ext>
            </a:extLst>
          </p:cNvPr>
          <p:cNvSpPr>
            <a:spLocks noGrp="1"/>
          </p:cNvSpPr>
          <p:nvPr/>
        </p:nvSpPr>
        <p:spPr>
          <a:xfrm>
            <a:off x="96402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Product Limit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F47ED-4F9F-4AA0-9143-AAB6A1B790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085" y="2876550"/>
            <a:ext cx="2617424" cy="2617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7F061D-E211-983A-312C-1420D67C68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75" y="3249445"/>
            <a:ext cx="2042045" cy="2042045"/>
          </a:xfrm>
          <a:prstGeom prst="rect">
            <a:avLst/>
          </a:prstGeom>
        </p:spPr>
      </p:pic>
      <p:sp>
        <p:nvSpPr>
          <p:cNvPr id="12" name="Matched Rectangle 1">
            <a:extLst>
              <a:ext uri="{FF2B5EF4-FFF2-40B4-BE49-F238E27FC236}">
                <a16:creationId xmlns:a16="http://schemas.microsoft.com/office/drawing/2014/main" id="{F2319ABF-B9AC-6642-EAAC-AEB24FC4BBAC}"/>
              </a:ext>
            </a:extLst>
          </p:cNvPr>
          <p:cNvSpPr>
            <a:spLocks noGrp="1"/>
          </p:cNvSpPr>
          <p:nvPr/>
        </p:nvSpPr>
        <p:spPr>
          <a:xfrm>
            <a:off x="7846675" y="5905500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$100,000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ED4E57-D423-384F-689B-D209782F09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sp>
        <p:nvSpPr>
          <p:cNvPr id="20" name="Matched Rectangle 1">
            <a:extLst>
              <a:ext uri="{FF2B5EF4-FFF2-40B4-BE49-F238E27FC236}">
                <a16:creationId xmlns:a16="http://schemas.microsoft.com/office/drawing/2014/main" id="{3EE303E2-F674-780F-8909-33D09FD56046}"/>
              </a:ext>
            </a:extLst>
          </p:cNvPr>
          <p:cNvSpPr>
            <a:spLocks noGrp="1"/>
          </p:cNvSpPr>
          <p:nvPr/>
        </p:nvSpPr>
        <p:spPr>
          <a:xfrm>
            <a:off x="677427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</p:txBody>
      </p:sp>
    </p:spTree>
    <p:extLst>
      <p:ext uri="{BB962C8B-B14F-4D97-AF65-F5344CB8AC3E}">
        <p14:creationId xmlns:p14="http://schemas.microsoft.com/office/powerpoint/2010/main" val="67470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7.40741E-7 L 0.51132 0.0252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34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AEBB-7780-7FE1-7F6F-4DA0ED51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ACA25641-07B2-5345-75DD-7BE36933251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4525A3D8-CE08-EA85-6F88-E03960653FAC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Product Funding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34C56013-103F-385B-6ECC-ECE1E0663C1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7A73B-6946-A770-9F94-E6EEE53EC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2225866"/>
            <a:ext cx="4232084" cy="4232084"/>
          </a:xfrm>
          <a:prstGeom prst="rect">
            <a:avLst/>
          </a:prstGeom>
        </p:spPr>
      </p:pic>
      <p:sp>
        <p:nvSpPr>
          <p:cNvPr id="18" name="Matched Rectangle 1">
            <a:extLst>
              <a:ext uri="{FF2B5EF4-FFF2-40B4-BE49-F238E27FC236}">
                <a16:creationId xmlns:a16="http://schemas.microsoft.com/office/drawing/2014/main" id="{F2C936DB-EB13-9E5E-F369-9D66757E3A8B}"/>
              </a:ext>
            </a:extLst>
          </p:cNvPr>
          <p:cNvSpPr>
            <a:spLocks noGrp="1"/>
          </p:cNvSpPr>
          <p:nvPr/>
        </p:nvSpPr>
        <p:spPr>
          <a:xfrm>
            <a:off x="4473916" y="3426482"/>
            <a:ext cx="204204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$100,000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u="sng" dirty="0">
                <a:solidFill>
                  <a:srgbClr val="17324D"/>
                </a:solidFill>
                <a:latin typeface="Aptos"/>
              </a:rPr>
              <a:t>$100,000</a:t>
            </a:r>
          </a:p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endParaRPr sz="2800" u="sng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9" name="Matched Rectangle 1">
            <a:extLst>
              <a:ext uri="{FF2B5EF4-FFF2-40B4-BE49-F238E27FC236}">
                <a16:creationId xmlns:a16="http://schemas.microsoft.com/office/drawing/2014/main" id="{DCB2DEE9-0524-6C30-1265-C2F055121564}"/>
              </a:ext>
            </a:extLst>
          </p:cNvPr>
          <p:cNvSpPr>
            <a:spLocks noGrp="1"/>
          </p:cNvSpPr>
          <p:nvPr/>
        </p:nvSpPr>
        <p:spPr>
          <a:xfrm>
            <a:off x="96402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Product Limit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841BED-6215-056C-9BCC-CFCD636B5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085" y="2876550"/>
            <a:ext cx="2617424" cy="2617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2BEEA2-ACB5-EE5D-1AE2-814BF2818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75" y="3249445"/>
            <a:ext cx="2042045" cy="2042045"/>
          </a:xfrm>
          <a:prstGeom prst="rect">
            <a:avLst/>
          </a:prstGeom>
        </p:spPr>
      </p:pic>
      <p:sp>
        <p:nvSpPr>
          <p:cNvPr id="12" name="Matched Rectangle 1">
            <a:extLst>
              <a:ext uri="{FF2B5EF4-FFF2-40B4-BE49-F238E27FC236}">
                <a16:creationId xmlns:a16="http://schemas.microsoft.com/office/drawing/2014/main" id="{332E33DE-3292-E659-A2E2-54FCE91BBB7A}"/>
              </a:ext>
            </a:extLst>
          </p:cNvPr>
          <p:cNvSpPr>
            <a:spLocks noGrp="1"/>
          </p:cNvSpPr>
          <p:nvPr/>
        </p:nvSpPr>
        <p:spPr>
          <a:xfrm>
            <a:off x="8068816" y="5881687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$100,000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9" name="Matched Rectangle 1">
            <a:extLst>
              <a:ext uri="{FF2B5EF4-FFF2-40B4-BE49-F238E27FC236}">
                <a16:creationId xmlns:a16="http://schemas.microsoft.com/office/drawing/2014/main" id="{CCF8B626-CA38-D6FC-C3AA-21923C3E8433}"/>
              </a:ext>
            </a:extLst>
          </p:cNvPr>
          <p:cNvSpPr>
            <a:spLocks noGrp="1"/>
          </p:cNvSpPr>
          <p:nvPr/>
        </p:nvSpPr>
        <p:spPr>
          <a:xfrm>
            <a:off x="677427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Funded Product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0ABC21-E0EF-28CB-E17F-63C48761E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8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7.40741E-7 L 0.51132 0.025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34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489F5-7832-B817-6D7E-5F97300D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830E7BA5-93D1-C8CE-5227-FD04F58E3C7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AB92D0C2-C227-98D1-624C-02881C7FCE42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Product Funding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EF57FD53-2744-7FF9-C3B8-D65FB31E88CA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2FAEB-154F-E515-38E2-CFF42EBF0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2225866"/>
            <a:ext cx="4232084" cy="4232084"/>
          </a:xfrm>
          <a:prstGeom prst="rect">
            <a:avLst/>
          </a:prstGeom>
        </p:spPr>
      </p:pic>
      <p:sp>
        <p:nvSpPr>
          <p:cNvPr id="19" name="Matched Rectangle 1">
            <a:extLst>
              <a:ext uri="{FF2B5EF4-FFF2-40B4-BE49-F238E27FC236}">
                <a16:creationId xmlns:a16="http://schemas.microsoft.com/office/drawing/2014/main" id="{D9BD82E4-4C6A-194D-517A-EB5077D758AE}"/>
              </a:ext>
            </a:extLst>
          </p:cNvPr>
          <p:cNvSpPr>
            <a:spLocks noGrp="1"/>
          </p:cNvSpPr>
          <p:nvPr/>
        </p:nvSpPr>
        <p:spPr>
          <a:xfrm>
            <a:off x="96402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Product Limit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646A8-2E31-4809-29A3-7B626E536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085" y="2876550"/>
            <a:ext cx="2617424" cy="2617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098BD6-0521-3683-A91C-CC03247EE9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75" y="3249445"/>
            <a:ext cx="2042045" cy="2042045"/>
          </a:xfrm>
          <a:prstGeom prst="rect">
            <a:avLst/>
          </a:prstGeom>
        </p:spPr>
      </p:pic>
      <p:sp>
        <p:nvSpPr>
          <p:cNvPr id="12" name="Matched Rectangle 1">
            <a:extLst>
              <a:ext uri="{FF2B5EF4-FFF2-40B4-BE49-F238E27FC236}">
                <a16:creationId xmlns:a16="http://schemas.microsoft.com/office/drawing/2014/main" id="{E441FD3C-0D8E-A292-64D0-6D0970D5229E}"/>
              </a:ext>
            </a:extLst>
          </p:cNvPr>
          <p:cNvSpPr>
            <a:spLocks noGrp="1"/>
          </p:cNvSpPr>
          <p:nvPr/>
        </p:nvSpPr>
        <p:spPr>
          <a:xfrm>
            <a:off x="8068816" y="5881687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$80,000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0" name="Matched Rectangle 1">
            <a:extLst>
              <a:ext uri="{FF2B5EF4-FFF2-40B4-BE49-F238E27FC236}">
                <a16:creationId xmlns:a16="http://schemas.microsoft.com/office/drawing/2014/main" id="{7BF1E47B-165C-1E5B-89A0-8055099F1136}"/>
              </a:ext>
            </a:extLst>
          </p:cNvPr>
          <p:cNvSpPr>
            <a:spLocks noGrp="1"/>
          </p:cNvSpPr>
          <p:nvPr/>
        </p:nvSpPr>
        <p:spPr>
          <a:xfrm>
            <a:off x="677427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Funded Product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1" name="Matched Rectangle 1">
            <a:extLst>
              <a:ext uri="{FF2B5EF4-FFF2-40B4-BE49-F238E27FC236}">
                <a16:creationId xmlns:a16="http://schemas.microsoft.com/office/drawing/2014/main" id="{F074C129-7CE8-311A-533B-E2E75B3C90AF}"/>
              </a:ext>
            </a:extLst>
          </p:cNvPr>
          <p:cNvSpPr>
            <a:spLocks noGrp="1"/>
          </p:cNvSpPr>
          <p:nvPr/>
        </p:nvSpPr>
        <p:spPr>
          <a:xfrm>
            <a:off x="4473916" y="3426482"/>
            <a:ext cx="204204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$100,000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u="sng" dirty="0">
                <a:solidFill>
                  <a:srgbClr val="17324D"/>
                </a:solidFill>
                <a:latin typeface="Aptos"/>
              </a:rPr>
              <a:t>$80,000</a:t>
            </a:r>
          </a:p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$20,000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endParaRPr sz="2800" u="sng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DAC06C-82BD-47C8-1D6A-DE68C75B6607}"/>
              </a:ext>
            </a:extLst>
          </p:cNvPr>
          <p:cNvSpPr/>
          <p:nvPr/>
        </p:nvSpPr>
        <p:spPr>
          <a:xfrm>
            <a:off x="4820485" y="4202416"/>
            <a:ext cx="2042045" cy="744701"/>
          </a:xfrm>
          <a:prstGeom prst="ellipse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9429E3-26A1-84FD-27B9-1C80201BE5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0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7.40741E-7 L 0.51132 0.025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34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98FA3-3665-A7D6-EF8B-140FB673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E3CF978-EDF3-9FE6-D22B-98FAF72C3AE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F63526-1059-CF0F-B228-59EE28B4E106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rmAutofit fontScale="92500" lnSpcReduction="10000"/>
          </a:bodyPr>
          <a:lstStyle/>
          <a:p>
            <a:r>
              <a:rPr lang="en-US" sz="400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Limit vs. Product Funded Amount</a:t>
            </a:r>
            <a:endParaRPr lang="en-US" sz="4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401725-8980-01D5-F079-FCB5475676BF}"/>
              </a:ext>
            </a:extLst>
          </p:cNvPr>
          <p:cNvSpPr>
            <a:spLocks noGrp="1"/>
          </p:cNvSpPr>
          <p:nvPr/>
        </p:nvSpPr>
        <p:spPr>
          <a:xfrm>
            <a:off x="685800" y="1330947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78EE90C-4DF1-5DF9-8961-E584B1278E6C}"/>
              </a:ext>
            </a:extLst>
          </p:cNvPr>
          <p:cNvSpPr/>
          <p:nvPr/>
        </p:nvSpPr>
        <p:spPr>
          <a:xfrm>
            <a:off x="7159523" y="1686968"/>
            <a:ext cx="4531820" cy="4919894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34" name="Chart 33"/>
          <p:cNvGraphicFramePr/>
          <p:nvPr>
            <p:extLst>
              <p:ext uri="{D42A27DB-BD31-4B8C-83A1-F6EECF244321}">
                <p14:modId xmlns:p14="http://schemas.microsoft.com/office/powerpoint/2010/main" val="2125469314"/>
              </p:ext>
            </p:extLst>
          </p:nvPr>
        </p:nvGraphicFramePr>
        <p:xfrm>
          <a:off x="7378979" y="1843994"/>
          <a:ext cx="4312365" cy="4369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7" name="Shape 5">
            <a:extLst>
              <a:ext uri="{FF2B5EF4-FFF2-40B4-BE49-F238E27FC236}">
                <a16:creationId xmlns:a16="http://schemas.microsoft.com/office/drawing/2014/main" id="{604B4B8D-7F31-EFBE-1B1C-44E047798DF7}"/>
              </a:ext>
            </a:extLst>
          </p:cNvPr>
          <p:cNvSpPr/>
          <p:nvPr/>
        </p:nvSpPr>
        <p:spPr>
          <a:xfrm>
            <a:off x="630936" y="1686969"/>
            <a:ext cx="1975104" cy="1737360"/>
          </a:xfrm>
          <a:prstGeom prst="roundRect">
            <a:avLst>
              <a:gd name="adj" fmla="val 5217"/>
            </a:avLst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2E14B308-A5A0-3B9F-FFFB-25C7A447C487}"/>
              </a:ext>
            </a:extLst>
          </p:cNvPr>
          <p:cNvSpPr/>
          <p:nvPr/>
        </p:nvSpPr>
        <p:spPr>
          <a:xfrm>
            <a:off x="722376" y="1796697"/>
            <a:ext cx="1792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17324D"/>
                </a:solidFill>
              </a:rPr>
              <a:t>$100,000</a:t>
            </a: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8E426C0C-24DC-DA1D-EDE4-810E4919E392}"/>
              </a:ext>
            </a:extLst>
          </p:cNvPr>
          <p:cNvSpPr/>
          <p:nvPr/>
        </p:nvSpPr>
        <p:spPr>
          <a:xfrm>
            <a:off x="722376" y="2400201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>
                <a:solidFill>
                  <a:srgbClr val="5D6B76"/>
                </a:solidFill>
              </a:rPr>
              <a:t>Product Limit</a:t>
            </a:r>
            <a:endParaRPr lang="en-US" sz="2400"/>
          </a:p>
        </p:txBody>
      </p:sp>
      <p:sp>
        <p:nvSpPr>
          <p:cNvPr id="63" name="Shape 8">
            <a:extLst>
              <a:ext uri="{FF2B5EF4-FFF2-40B4-BE49-F238E27FC236}">
                <a16:creationId xmlns:a16="http://schemas.microsoft.com/office/drawing/2014/main" id="{23055B51-BD34-93D1-D9D5-0329FD969594}"/>
              </a:ext>
            </a:extLst>
          </p:cNvPr>
          <p:cNvSpPr/>
          <p:nvPr/>
        </p:nvSpPr>
        <p:spPr>
          <a:xfrm>
            <a:off x="2706624" y="1686969"/>
            <a:ext cx="1975104" cy="1737360"/>
          </a:xfrm>
          <a:prstGeom prst="roundRect">
            <a:avLst>
              <a:gd name="adj" fmla="val 5217"/>
            </a:avLst>
          </a:prstGeom>
          <a:solidFill>
            <a:srgbClr val="E6F1F1"/>
          </a:solidFill>
          <a:ln w="12700">
            <a:solidFill>
              <a:srgbClr val="E6F1F1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C043789C-3028-B4CD-CE9F-707B5209839B}"/>
              </a:ext>
            </a:extLst>
          </p:cNvPr>
          <p:cNvSpPr/>
          <p:nvPr/>
        </p:nvSpPr>
        <p:spPr>
          <a:xfrm>
            <a:off x="2798064" y="1796697"/>
            <a:ext cx="1792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2D8C8C"/>
                </a:solidFill>
              </a:rPr>
              <a:t>$80,000</a:t>
            </a:r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F86668C5-6BC1-B92C-8DEA-E7E80C5FEF0A}"/>
              </a:ext>
            </a:extLst>
          </p:cNvPr>
          <p:cNvSpPr/>
          <p:nvPr/>
        </p:nvSpPr>
        <p:spPr>
          <a:xfrm>
            <a:off x="2798064" y="2400201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>
                <a:solidFill>
                  <a:srgbClr val="5D6B76"/>
                </a:solidFill>
              </a:rPr>
              <a:t>Product Funded Amount</a:t>
            </a:r>
            <a:endParaRPr lang="en-US" sz="2400"/>
          </a:p>
        </p:txBody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0280AB79-23BF-C40A-B3A9-78A03681CA0D}"/>
              </a:ext>
            </a:extLst>
          </p:cNvPr>
          <p:cNvSpPr/>
          <p:nvPr/>
        </p:nvSpPr>
        <p:spPr>
          <a:xfrm>
            <a:off x="4782312" y="1686969"/>
            <a:ext cx="1975104" cy="1737360"/>
          </a:xfrm>
          <a:prstGeom prst="roundRect">
            <a:avLst>
              <a:gd name="adj" fmla="val 5217"/>
            </a:avLst>
          </a:prstGeom>
          <a:solidFill>
            <a:srgbClr val="FAF2E0"/>
          </a:solidFill>
          <a:ln w="12700">
            <a:solidFill>
              <a:srgbClr val="FAF2E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87397A38-B257-CE7D-5CD7-CB11BF02E560}"/>
              </a:ext>
            </a:extLst>
          </p:cNvPr>
          <p:cNvSpPr/>
          <p:nvPr/>
        </p:nvSpPr>
        <p:spPr>
          <a:xfrm>
            <a:off x="4873752" y="1796697"/>
            <a:ext cx="1792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B07D1F"/>
                </a:solidFill>
              </a:rPr>
              <a:t>$20,000</a:t>
            </a:r>
            <a:endParaRPr lang="en-US" sz="3600" dirty="0"/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755D5922-3A35-4786-A24F-BD00FAB689E8}"/>
              </a:ext>
            </a:extLst>
          </p:cNvPr>
          <p:cNvSpPr/>
          <p:nvPr/>
        </p:nvSpPr>
        <p:spPr>
          <a:xfrm>
            <a:off x="4873752" y="2400201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>
                <a:solidFill>
                  <a:srgbClr val="5D6B76"/>
                </a:solidFill>
              </a:rPr>
              <a:t>Remaining available to fund</a:t>
            </a:r>
            <a:endParaRPr lang="en-US" sz="2200"/>
          </a:p>
        </p:txBody>
      </p:sp>
      <p:sp>
        <p:nvSpPr>
          <p:cNvPr id="301" name="Key Swatch"/>
          <p:cNvSpPr/>
          <p:nvPr/>
        </p:nvSpPr>
        <p:spPr>
          <a:xfrm>
            <a:off x="7589520" y="576072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Key Label"/>
          <p:cNvSpPr txBox="1"/>
          <p:nvPr/>
        </p:nvSpPr>
        <p:spPr>
          <a:xfrm>
            <a:off x="7845552" y="571500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2000">
                <a:solidFill>
                  <a:srgbClr val="17324D"/>
                </a:solidFill>
                <a:latin typeface="Aptos"/>
              </a:rPr>
              <a:t>Product Limit</a:t>
            </a:r>
          </a:p>
        </p:txBody>
      </p:sp>
      <p:sp>
        <p:nvSpPr>
          <p:cNvPr id="303" name="Key Swatch"/>
          <p:cNvSpPr/>
          <p:nvPr/>
        </p:nvSpPr>
        <p:spPr>
          <a:xfrm>
            <a:off x="7589520" y="6172200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2D8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Key Label"/>
          <p:cNvSpPr txBox="1"/>
          <p:nvPr/>
        </p:nvSpPr>
        <p:spPr>
          <a:xfrm>
            <a:off x="7845552" y="612648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2000">
                <a:solidFill>
                  <a:srgbClr val="17324D"/>
                </a:solidFill>
                <a:latin typeface="Aptos"/>
              </a:rPr>
              <a:t>Product Funded Amount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5D8811E6-6CBA-74F4-A7B6-43EB0D8976F8}"/>
              </a:ext>
            </a:extLst>
          </p:cNvPr>
          <p:cNvSpPr/>
          <p:nvPr/>
        </p:nvSpPr>
        <p:spPr>
          <a:xfrm>
            <a:off x="8095259" y="1859364"/>
            <a:ext cx="129867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324D"/>
                </a:solidFill>
              </a:rPr>
              <a:t>$100,000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E515672-42B3-9300-3376-1279FB59F3A5}"/>
              </a:ext>
            </a:extLst>
          </p:cNvPr>
          <p:cNvSpPr/>
          <p:nvPr/>
        </p:nvSpPr>
        <p:spPr>
          <a:xfrm>
            <a:off x="9704832" y="2372769"/>
            <a:ext cx="111594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324D"/>
                </a:solidFill>
              </a:rPr>
              <a:t>$80,000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1348F14-4B16-09F4-B46E-085EBE4A8B4A}"/>
              </a:ext>
            </a:extLst>
          </p:cNvPr>
          <p:cNvSpPr/>
          <p:nvPr/>
        </p:nvSpPr>
        <p:spPr>
          <a:xfrm>
            <a:off x="630935" y="3633753"/>
            <a:ext cx="6126479" cy="14456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DD905-FCC6-CA04-DABE-7825EFF58EE2}"/>
              </a:ext>
            </a:extLst>
          </p:cNvPr>
          <p:cNvSpPr txBox="1"/>
          <p:nvPr/>
        </p:nvSpPr>
        <p:spPr>
          <a:xfrm>
            <a:off x="914399" y="3703900"/>
            <a:ext cx="5108844" cy="32696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en-US" sz="2400" b="1" dirty="0">
                <a:solidFill>
                  <a:srgbClr val="17324D"/>
                </a:solidFill>
                <a:latin typeface="Aptos"/>
              </a:rPr>
              <a:t>Product Limit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7B14B-9521-D3D5-7B8B-50486DAFDE35}"/>
              </a:ext>
            </a:extLst>
          </p:cNvPr>
          <p:cNvSpPr txBox="1"/>
          <p:nvPr/>
        </p:nvSpPr>
        <p:spPr>
          <a:xfrm>
            <a:off x="914399" y="4088014"/>
            <a:ext cx="5751577" cy="94013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D6B76"/>
                </a:solidFill>
                <a:latin typeface="Aptos Light" panose="020B0004020202020204" pitchFamily="34" charset="0"/>
              </a:rPr>
              <a:t>The amount a product is budgeted for and cannot be exceeded.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D6B76"/>
                </a:solidFill>
                <a:latin typeface="Aptos Light" panose="020B0004020202020204" pitchFamily="34" charset="0"/>
              </a:rPr>
              <a:t>The total amount comes from Correlation Product Plan Manager</a:t>
            </a:r>
            <a:endParaRPr lang="en-US" sz="1600" dirty="0">
              <a:solidFill>
                <a:srgbClr val="5D6B76"/>
              </a:solidFill>
              <a:latin typeface="Aptos"/>
            </a:endParaRPr>
          </a:p>
          <a:p>
            <a:pPr>
              <a:lnSpc>
                <a:spcPct val="112000"/>
              </a:lnSpc>
            </a:pP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7A8D85-928D-D9B2-9CC9-71F26376E900}"/>
              </a:ext>
            </a:extLst>
          </p:cNvPr>
          <p:cNvSpPr/>
          <p:nvPr/>
        </p:nvSpPr>
        <p:spPr>
          <a:xfrm>
            <a:off x="630935" y="5163579"/>
            <a:ext cx="6126479" cy="1445620"/>
          </a:xfrm>
          <a:prstGeom prst="roundRect">
            <a:avLst/>
          </a:prstGeom>
          <a:solidFill>
            <a:srgbClr val="F4F9FA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867BC-ECBE-0784-B32A-AA3290B9AC4F}"/>
              </a:ext>
            </a:extLst>
          </p:cNvPr>
          <p:cNvSpPr txBox="1"/>
          <p:nvPr/>
        </p:nvSpPr>
        <p:spPr>
          <a:xfrm>
            <a:off x="914399" y="5233726"/>
            <a:ext cx="5108844" cy="326961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lang="en-US" sz="2400" b="1" dirty="0">
                <a:solidFill>
                  <a:srgbClr val="17324D"/>
                </a:solidFill>
                <a:latin typeface="Aptos"/>
              </a:rPr>
              <a:t>Product Funded Amount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26E42-79A5-63F7-B145-976476CE1C07}"/>
              </a:ext>
            </a:extLst>
          </p:cNvPr>
          <p:cNvSpPr txBox="1"/>
          <p:nvPr/>
        </p:nvSpPr>
        <p:spPr>
          <a:xfrm>
            <a:off x="914399" y="5617840"/>
            <a:ext cx="5751577" cy="94013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D6B76"/>
                </a:solidFill>
                <a:latin typeface="Aptos Light" panose="020B0004020202020204" pitchFamily="34" charset="0"/>
              </a:rPr>
              <a:t>The amount allocated as ready to be spent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D6B76"/>
                </a:solidFill>
                <a:latin typeface="Aptos Light" panose="020B0004020202020204" pitchFamily="34" charset="0"/>
              </a:rPr>
              <a:t>Product Funded Amount is set by the Product Manager in coordination with the Project Manager</a:t>
            </a:r>
          </a:p>
          <a:p>
            <a:pPr>
              <a:lnSpc>
                <a:spcPct val="112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6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727CF-F504-3080-11DF-E3CB66BF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1932139-FFB9-D1B6-F20E-70D652B818B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41CA0-5A4E-5959-3107-02D8319079E9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r">
              <a:defRPr sz="900" b="1">
                <a:solidFill>
                  <a:srgbClr val="5D6B76"/>
                </a:solidFill>
                <a:latin typeface="Aptos"/>
                <a:ea typeface="Aptos"/>
                <a:cs typeface="Aptos"/>
              </a:defRPr>
            </a:pPr>
            <a:r>
              <a:rPr lang="en-US" sz="950">
                <a:solidFill>
                  <a:srgbClr val="5D6B76"/>
                </a:solidFill>
                <a:latin typeface="Aptos"/>
              </a:rPr>
              <a:t>12</a:t>
            </a:r>
            <a:endParaRPr sz="950">
              <a:solidFill>
                <a:srgbClr val="5D6B76"/>
              </a:solidFill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AC897C-EFCF-8420-F105-E087681A74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05" b="27093"/>
          <a:stretch>
            <a:fillRect/>
          </a:stretch>
        </p:blipFill>
        <p:spPr>
          <a:xfrm>
            <a:off x="0" y="1166647"/>
            <a:ext cx="12192000" cy="569135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8449DD-3A1C-D60C-07DF-0FC0D6B4C971}"/>
              </a:ext>
            </a:extLst>
          </p:cNvPr>
          <p:cNvSpPr/>
          <p:nvPr/>
        </p:nvSpPr>
        <p:spPr>
          <a:xfrm>
            <a:off x="3460749" y="3330740"/>
            <a:ext cx="454025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EB52F8-B0D5-83C5-61B9-825347DA3130}"/>
              </a:ext>
            </a:extLst>
          </p:cNvPr>
          <p:cNvSpPr/>
          <p:nvPr/>
        </p:nvSpPr>
        <p:spPr>
          <a:xfrm>
            <a:off x="3460749" y="3616325"/>
            <a:ext cx="454025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10529E-5927-CE81-B73C-7F925D2A61F9}"/>
              </a:ext>
            </a:extLst>
          </p:cNvPr>
          <p:cNvSpPr/>
          <p:nvPr/>
        </p:nvSpPr>
        <p:spPr>
          <a:xfrm>
            <a:off x="3460748" y="3901910"/>
            <a:ext cx="454025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B64F36-E027-13BC-5464-DB000599B741}"/>
              </a:ext>
            </a:extLst>
          </p:cNvPr>
          <p:cNvSpPr/>
          <p:nvPr/>
        </p:nvSpPr>
        <p:spPr>
          <a:xfrm>
            <a:off x="4347845" y="4081344"/>
            <a:ext cx="681355" cy="129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A40AE5-668B-AE7D-63B3-E8498969082C}"/>
              </a:ext>
            </a:extLst>
          </p:cNvPr>
          <p:cNvSpPr/>
          <p:nvPr/>
        </p:nvSpPr>
        <p:spPr>
          <a:xfrm>
            <a:off x="5933249" y="3649870"/>
            <a:ext cx="701231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3F5C03-E580-8020-A175-EE88961FC2B3}"/>
              </a:ext>
            </a:extLst>
          </p:cNvPr>
          <p:cNvSpPr/>
          <p:nvPr/>
        </p:nvSpPr>
        <p:spPr>
          <a:xfrm>
            <a:off x="5933248" y="3885322"/>
            <a:ext cx="972878" cy="1435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6B4168-D2ED-40D9-0EBE-7888FE3C1FBE}"/>
              </a:ext>
            </a:extLst>
          </p:cNvPr>
          <p:cNvSpPr/>
          <p:nvPr/>
        </p:nvSpPr>
        <p:spPr>
          <a:xfrm>
            <a:off x="9072689" y="3857480"/>
            <a:ext cx="701231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AE6CF8-E01C-0F0B-A22E-4D2F016E8172}"/>
              </a:ext>
            </a:extLst>
          </p:cNvPr>
          <p:cNvSpPr/>
          <p:nvPr/>
        </p:nvSpPr>
        <p:spPr>
          <a:xfrm>
            <a:off x="10131960" y="5587945"/>
            <a:ext cx="1051847" cy="103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E37695-E94F-2B58-A10F-6C59416A2AC9}"/>
              </a:ext>
            </a:extLst>
          </p:cNvPr>
          <p:cNvSpPr/>
          <p:nvPr/>
        </p:nvSpPr>
        <p:spPr>
          <a:xfrm>
            <a:off x="554168" y="3857480"/>
            <a:ext cx="592843" cy="17492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9765AE-4817-ADC8-009F-5097CB36E141}"/>
              </a:ext>
            </a:extLst>
          </p:cNvPr>
          <p:cNvSpPr/>
          <p:nvPr/>
        </p:nvSpPr>
        <p:spPr>
          <a:xfrm>
            <a:off x="1759785" y="5671710"/>
            <a:ext cx="863099" cy="12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D52BCD-7605-876C-A16D-19249E2B5E30}"/>
              </a:ext>
            </a:extLst>
          </p:cNvPr>
          <p:cNvSpPr/>
          <p:nvPr/>
        </p:nvSpPr>
        <p:spPr>
          <a:xfrm>
            <a:off x="3833995" y="5055600"/>
            <a:ext cx="946552" cy="199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3B52BD-ACC9-97E7-75B2-045015B2561D}"/>
              </a:ext>
            </a:extLst>
          </p:cNvPr>
          <p:cNvSpPr/>
          <p:nvPr/>
        </p:nvSpPr>
        <p:spPr>
          <a:xfrm>
            <a:off x="8024136" y="5431410"/>
            <a:ext cx="983506" cy="10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321AA4D-ADD6-C13F-F0E6-FA354AF4FB6B}"/>
              </a:ext>
            </a:extLst>
          </p:cNvPr>
          <p:cNvSpPr/>
          <p:nvPr/>
        </p:nvSpPr>
        <p:spPr>
          <a:xfrm>
            <a:off x="6210868" y="4732098"/>
            <a:ext cx="751406" cy="12063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835B62-243C-869F-2EDA-87251ACB8FA5}"/>
              </a:ext>
            </a:extLst>
          </p:cNvPr>
          <p:cNvSpPr>
            <a:spLocks noGrp="1"/>
          </p:cNvSpPr>
          <p:nvPr/>
        </p:nvSpPr>
        <p:spPr>
          <a:xfrm>
            <a:off x="614680" y="311703"/>
            <a:ext cx="10820400" cy="55245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0">
                <a:solidFill>
                  <a:srgbClr val="17324D"/>
                </a:solidFill>
                <a:latin typeface="Aptos"/>
              </a:rPr>
              <a:t>Reports to help with Accountability</a:t>
            </a:r>
            <a:endParaRPr sz="4000" b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F6BCE3F-8685-EFC3-A83F-39889B7F3956}"/>
              </a:ext>
            </a:extLst>
          </p:cNvPr>
          <p:cNvSpPr>
            <a:spLocks noGrp="1"/>
          </p:cNvSpPr>
          <p:nvPr/>
        </p:nvSpPr>
        <p:spPr>
          <a:xfrm>
            <a:off x="614680" y="1022738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727DD6-66F9-DDCA-FED1-FC30DD2B04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576" y="4444070"/>
            <a:ext cx="304800" cy="71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0F5D5B-FDA8-0FDA-2EC7-F9324A535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84"/>
          <a:stretch>
            <a:fillRect/>
          </a:stretch>
        </p:blipFill>
        <p:spPr>
          <a:xfrm>
            <a:off x="6405398" y="4000332"/>
            <a:ext cx="2038514" cy="105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6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6548C-1FD9-7B58-B44F-A88D38DE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132A9D70-B7AE-E7CF-1C98-6EA77C705CD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1F4BEC4D-83BE-FE2D-3A1C-10CEF5CEBD10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Project Funding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BDAD21B2-F4BD-C649-BE61-F9E5F2CF5181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DCB85-0067-85E1-2F51-18A38BE42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722" y="2857500"/>
            <a:ext cx="2617424" cy="2617424"/>
          </a:xfrm>
          <a:prstGeom prst="rect">
            <a:avLst/>
          </a:prstGeom>
        </p:spPr>
      </p:pic>
      <p:sp>
        <p:nvSpPr>
          <p:cNvPr id="12" name="Matched Rectangle 1">
            <a:extLst>
              <a:ext uri="{FF2B5EF4-FFF2-40B4-BE49-F238E27FC236}">
                <a16:creationId xmlns:a16="http://schemas.microsoft.com/office/drawing/2014/main" id="{A8D5376F-18F3-98A1-D695-E2092BA75A91}"/>
              </a:ext>
            </a:extLst>
          </p:cNvPr>
          <p:cNvSpPr>
            <a:spLocks noGrp="1"/>
          </p:cNvSpPr>
          <p:nvPr/>
        </p:nvSpPr>
        <p:spPr>
          <a:xfrm>
            <a:off x="1739453" y="5862637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$80,000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0" name="Matched Rectangle 1">
            <a:extLst>
              <a:ext uri="{FF2B5EF4-FFF2-40B4-BE49-F238E27FC236}">
                <a16:creationId xmlns:a16="http://schemas.microsoft.com/office/drawing/2014/main" id="{FEA65240-1EAA-A84A-D30B-40BE07B94D17}"/>
              </a:ext>
            </a:extLst>
          </p:cNvPr>
          <p:cNvSpPr>
            <a:spLocks noGrp="1"/>
          </p:cNvSpPr>
          <p:nvPr/>
        </p:nvSpPr>
        <p:spPr>
          <a:xfrm>
            <a:off x="444912" y="200528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Funded Product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C823D6-93C1-5426-4746-4CCAB95C6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81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801B-EFC4-71EA-F62A-5FDBA1F8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19229ACC-E37B-698C-C9FD-7EC0C1E7117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1A9FF400-B8AC-0044-6A1F-9547188F80EE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Production Project Estimates</a:t>
            </a:r>
            <a:endParaRPr sz="4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B664F3EB-1A66-83DD-4FB8-A499910CC52B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D92ABA-D019-01E3-BAFB-D1D5BDC53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058236"/>
              </p:ext>
            </p:extLst>
          </p:nvPr>
        </p:nvGraphicFramePr>
        <p:xfrm>
          <a:off x="685800" y="2056065"/>
          <a:ext cx="10811257" cy="414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3225493563"/>
                    </a:ext>
                  </a:extLst>
                </a:gridCol>
                <a:gridCol w="1804087">
                  <a:extLst>
                    <a:ext uri="{9D8B030D-6E8A-4147-A177-3AD203B41FA5}">
                      <a16:colId xmlns:a16="http://schemas.microsoft.com/office/drawing/2014/main" val="1835832015"/>
                    </a:ext>
                  </a:extLst>
                </a:gridCol>
                <a:gridCol w="522569">
                  <a:extLst>
                    <a:ext uri="{9D8B030D-6E8A-4147-A177-3AD203B41FA5}">
                      <a16:colId xmlns:a16="http://schemas.microsoft.com/office/drawing/2014/main" val="3667891410"/>
                    </a:ext>
                  </a:extLst>
                </a:gridCol>
                <a:gridCol w="4912726">
                  <a:extLst>
                    <a:ext uri="{9D8B030D-6E8A-4147-A177-3AD203B41FA5}">
                      <a16:colId xmlns:a16="http://schemas.microsoft.com/office/drawing/2014/main" val="103987250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Production Estimates</a:t>
                      </a:r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Production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99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Package Design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63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Social Media Posts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40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Brand Book Creation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272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30,000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Launch Event Broadcast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38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20,000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Promotion Video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5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FontTx/>
                        <a:buNone/>
                      </a:pPr>
                      <a:r>
                        <a:rPr lang="en-US" sz="2800" dirty="0"/>
                        <a:t>$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FontTx/>
                        <a:buNone/>
                      </a:pPr>
                      <a:r>
                        <a:rPr lang="en-US" sz="2800" dirty="0"/>
                        <a:t>10,000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/>
                        <a:t>Email</a:t>
                      </a: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89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800" dirty="0"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259943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B4FD19C-3054-DEE8-19C6-27867817C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E5E7805-8640-B8A8-AD1E-7A281DC6B569}"/>
              </a:ext>
            </a:extLst>
          </p:cNvPr>
          <p:cNvSpPr/>
          <p:nvPr/>
        </p:nvSpPr>
        <p:spPr>
          <a:xfrm>
            <a:off x="6506410" y="2459341"/>
            <a:ext cx="3366253" cy="744701"/>
          </a:xfrm>
          <a:prstGeom prst="ellipse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8464A8-1A61-01EE-726A-C5C0AE218B2E}"/>
              </a:ext>
            </a:extLst>
          </p:cNvPr>
          <p:cNvSpPr/>
          <p:nvPr/>
        </p:nvSpPr>
        <p:spPr>
          <a:xfrm>
            <a:off x="6506410" y="3497982"/>
            <a:ext cx="3866315" cy="744701"/>
          </a:xfrm>
          <a:prstGeom prst="ellipse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tched Rectangle 1">
            <a:extLst>
              <a:ext uri="{FF2B5EF4-FFF2-40B4-BE49-F238E27FC236}">
                <a16:creationId xmlns:a16="http://schemas.microsoft.com/office/drawing/2014/main" id="{FD1B8E47-1DFC-F5E7-8371-37B2BEB90219}"/>
              </a:ext>
            </a:extLst>
          </p:cNvPr>
          <p:cNvSpPr>
            <a:spLocks noGrp="1"/>
          </p:cNvSpPr>
          <p:nvPr/>
        </p:nvSpPr>
        <p:spPr>
          <a:xfrm>
            <a:off x="2438027" y="5942835"/>
            <a:ext cx="7297658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600" dirty="0">
                <a:solidFill>
                  <a:srgbClr val="17324D"/>
                </a:solidFill>
                <a:latin typeface="Aptos"/>
              </a:rPr>
              <a:t>Move from estimate to Fixed Bid</a:t>
            </a:r>
          </a:p>
        </p:txBody>
      </p:sp>
    </p:spTree>
    <p:extLst>
      <p:ext uri="{BB962C8B-B14F-4D97-AF65-F5344CB8AC3E}">
        <p14:creationId xmlns:p14="http://schemas.microsoft.com/office/powerpoint/2010/main" val="354462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2C95-DAAD-7B1F-C188-8D0A0B2B7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28CA15CC-2627-E67B-8F6F-B4ADF1D45C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19EF927A-6A8D-F9D5-9C24-B59A210FB9D4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Fixed Project Bid</a:t>
            </a:r>
            <a:endParaRPr sz="4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1B8257F3-7AE9-C5E2-3BB5-BD07FC0F4D76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05D15B-1A7D-8EC6-6B18-BFB2E4BE6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43007C-10C9-57D8-F98C-A4BF2A3AFDF8}"/>
              </a:ext>
            </a:extLst>
          </p:cNvPr>
          <p:cNvSpPr txBox="1"/>
          <p:nvPr/>
        </p:nvSpPr>
        <p:spPr>
          <a:xfrm>
            <a:off x="676656" y="1933635"/>
            <a:ext cx="108295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Aptos" panose="020B0004020202020204" pitchFamily="34" charset="0"/>
              </a:rPr>
              <a:t>A </a:t>
            </a:r>
            <a:r>
              <a:rPr lang="en-US" sz="2400" b="1" dirty="0">
                <a:latin typeface="Aptos" panose="020B0004020202020204" pitchFamily="34" charset="0"/>
              </a:rPr>
              <a:t>fixed bid project</a:t>
            </a:r>
            <a:r>
              <a:rPr lang="en-US" sz="2400" dirty="0">
                <a:latin typeface="Aptos" panose="020B0004020202020204" pitchFamily="34" charset="0"/>
              </a:rPr>
              <a:t> is an agreement where the total cost is set up front, regardless of how much time or effort the work ends up taking</a:t>
            </a:r>
          </a:p>
          <a:p>
            <a:pPr rtl="0">
              <a:buNone/>
            </a:pPr>
            <a:endParaRPr lang="en-US" sz="2400" dirty="0">
              <a:latin typeface="Aptos" panose="020B0004020202020204" pitchFamily="34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" panose="020B0004020202020204" pitchFamily="34" charset="0"/>
              </a:rPr>
              <a:t>Set price:</a:t>
            </a:r>
            <a:r>
              <a:rPr lang="en-US" sz="2400" dirty="0">
                <a:latin typeface="Aptos" panose="020B0004020202020204" pitchFamily="34" charset="0"/>
              </a:rPr>
              <a:t> The product manager and project manager agree on one total price before work begins.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" panose="020B0004020202020204" pitchFamily="34" charset="0"/>
              </a:rPr>
              <a:t>Defined scope:</a:t>
            </a:r>
            <a:r>
              <a:rPr lang="en-US" sz="2400" dirty="0">
                <a:latin typeface="Aptos" panose="020B0004020202020204" pitchFamily="34" charset="0"/>
              </a:rPr>
              <a:t> Deliverables, requirements, and timelines are specified in detail in advance, and the price is tied to that scope.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" panose="020B0004020202020204" pitchFamily="34" charset="0"/>
              </a:rPr>
              <a:t>Production bears the risk:</a:t>
            </a:r>
            <a:r>
              <a:rPr lang="en-US" sz="2400" dirty="0">
                <a:latin typeface="Aptos" panose="020B0004020202020204" pitchFamily="34" charset="0"/>
              </a:rPr>
              <a:t> If the work takes longer or costs more than estimated, production absorbs the overrun. If it comes in under budget, production keeps the extra margin.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" panose="020B0004020202020204" pitchFamily="34" charset="0"/>
              </a:rPr>
              <a:t>Changes require a change order:</a:t>
            </a:r>
            <a:r>
              <a:rPr lang="en-US" sz="2400" dirty="0">
                <a:latin typeface="Aptos" panose="020B0004020202020204" pitchFamily="34" charset="0"/>
              </a:rPr>
              <a:t> Any work outside the agreed scope triggers a formal change request, with adjusted cost and timeline.</a:t>
            </a:r>
          </a:p>
        </p:txBody>
      </p:sp>
    </p:spTree>
    <p:extLst>
      <p:ext uri="{BB962C8B-B14F-4D97-AF65-F5344CB8AC3E}">
        <p14:creationId xmlns:p14="http://schemas.microsoft.com/office/powerpoint/2010/main" val="169183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537F-7598-0DC4-2160-F697495C0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CF87274B-3FEB-5A8B-0386-3D12460955B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EB826355-3A9B-39FE-E83E-3716D39D4F3F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Project Funding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FBFA7BFA-3A61-5618-B13F-F544651935E6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DB55D-4B53-1B04-7173-B9F13157B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722" y="2857500"/>
            <a:ext cx="2617424" cy="2617424"/>
          </a:xfrm>
          <a:prstGeom prst="rect">
            <a:avLst/>
          </a:prstGeom>
        </p:spPr>
      </p:pic>
      <p:sp>
        <p:nvSpPr>
          <p:cNvPr id="12" name="Matched Rectangle 1">
            <a:extLst>
              <a:ext uri="{FF2B5EF4-FFF2-40B4-BE49-F238E27FC236}">
                <a16:creationId xmlns:a16="http://schemas.microsoft.com/office/drawing/2014/main" id="{0051FEFA-304C-06AE-AE6F-9A745CE17F8B}"/>
              </a:ext>
            </a:extLst>
          </p:cNvPr>
          <p:cNvSpPr>
            <a:spLocks noGrp="1"/>
          </p:cNvSpPr>
          <p:nvPr/>
        </p:nvSpPr>
        <p:spPr>
          <a:xfrm>
            <a:off x="1739453" y="5862637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$80,000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0" name="Matched Rectangle 1">
            <a:extLst>
              <a:ext uri="{FF2B5EF4-FFF2-40B4-BE49-F238E27FC236}">
                <a16:creationId xmlns:a16="http://schemas.microsoft.com/office/drawing/2014/main" id="{3221C69D-FBF3-AED3-160B-5A7F091F39FC}"/>
              </a:ext>
            </a:extLst>
          </p:cNvPr>
          <p:cNvSpPr>
            <a:spLocks noGrp="1"/>
          </p:cNvSpPr>
          <p:nvPr/>
        </p:nvSpPr>
        <p:spPr>
          <a:xfrm>
            <a:off x="444912" y="200528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Funded Product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F9861E-57F2-11E7-A420-3DCFECBF9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2C5EC3-A441-A36E-1864-2020F9BE0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770" y="2674847"/>
            <a:ext cx="1771379" cy="17713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3E243C-2946-5F14-0041-1BAE2A3DB8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648" y="4760820"/>
            <a:ext cx="1771379" cy="1771379"/>
          </a:xfrm>
          <a:prstGeom prst="rect">
            <a:avLst/>
          </a:prstGeom>
        </p:spPr>
      </p:pic>
      <p:sp>
        <p:nvSpPr>
          <p:cNvPr id="11" name="Text 20">
            <a:extLst>
              <a:ext uri="{FF2B5EF4-FFF2-40B4-BE49-F238E27FC236}">
                <a16:creationId xmlns:a16="http://schemas.microsoft.com/office/drawing/2014/main" id="{C4DA4139-9790-8759-52E0-B8832A0B66B4}"/>
              </a:ext>
            </a:extLst>
          </p:cNvPr>
          <p:cNvSpPr/>
          <p:nvPr/>
        </p:nvSpPr>
        <p:spPr>
          <a:xfrm>
            <a:off x="8332164" y="3092205"/>
            <a:ext cx="27653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243447"/>
                </a:solidFill>
              </a:rPr>
              <a:t>Package Design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243447"/>
                </a:solidFill>
              </a:rPr>
              <a:t>$10,000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243447"/>
                </a:solidFill>
              </a:rPr>
              <a:t>$6,000</a:t>
            </a:r>
            <a:endParaRPr lang="en-US" sz="2000" b="1" dirty="0"/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C2159920-32F3-FB5F-A578-953574D61783}"/>
              </a:ext>
            </a:extLst>
          </p:cNvPr>
          <p:cNvSpPr/>
          <p:nvPr/>
        </p:nvSpPr>
        <p:spPr>
          <a:xfrm>
            <a:off x="8346451" y="5212169"/>
            <a:ext cx="27653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243447"/>
                </a:solidFill>
              </a:rPr>
              <a:t>Brand Book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243447"/>
                </a:solidFill>
              </a:rPr>
              <a:t>$20,000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243447"/>
                </a:solidFill>
              </a:rPr>
              <a:t>$22,000</a:t>
            </a:r>
            <a:endParaRPr lang="en-US" sz="20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EFA7EC-B984-822D-DE1B-4951FC820153}"/>
              </a:ext>
            </a:extLst>
          </p:cNvPr>
          <p:cNvCxnSpPr/>
          <p:nvPr/>
        </p:nvCxnSpPr>
        <p:spPr>
          <a:xfrm>
            <a:off x="9111546" y="3526545"/>
            <a:ext cx="1328738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E224E0-05DA-A521-ED69-D775E6E13588}"/>
              </a:ext>
            </a:extLst>
          </p:cNvPr>
          <p:cNvCxnSpPr/>
          <p:nvPr/>
        </p:nvCxnSpPr>
        <p:spPr>
          <a:xfrm>
            <a:off x="9111546" y="5646509"/>
            <a:ext cx="1328738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tched Rectangle 1">
            <a:extLst>
              <a:ext uri="{FF2B5EF4-FFF2-40B4-BE49-F238E27FC236}">
                <a16:creationId xmlns:a16="http://schemas.microsoft.com/office/drawing/2014/main" id="{99CC2F89-89CE-C102-03C7-4C75F9A276DD}"/>
              </a:ext>
            </a:extLst>
          </p:cNvPr>
          <p:cNvSpPr>
            <a:spLocks noGrp="1"/>
          </p:cNvSpPr>
          <p:nvPr/>
        </p:nvSpPr>
        <p:spPr>
          <a:xfrm>
            <a:off x="6096000" y="2422437"/>
            <a:ext cx="2736027" cy="1636165"/>
          </a:xfrm>
          <a:prstGeom prst="rect">
            <a:avLst/>
          </a:prstGeom>
          <a:solidFill>
            <a:schemeClr val="bg1"/>
          </a:solidFill>
          <a:ln w="50800">
            <a:solidFill>
              <a:srgbClr val="1F7D3E"/>
            </a:solidFill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F7D3E"/>
                </a:solidFill>
                <a:latin typeface="Aptos"/>
              </a:rPr>
              <a:t>    Product Manager                    </a:t>
            </a:r>
          </a:p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F7D3E"/>
                </a:solidFill>
                <a:latin typeface="Aptos"/>
              </a:rPr>
              <a:t>            Approved</a:t>
            </a:r>
            <a:endParaRPr sz="2400" dirty="0">
              <a:solidFill>
                <a:srgbClr val="1F7D3E"/>
              </a:solidFill>
              <a:latin typeface="Apto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79961F5-18E2-4C0D-1808-70A7B9DFEC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84"/>
          <a:stretch>
            <a:fillRect/>
          </a:stretch>
        </p:blipFill>
        <p:spPr>
          <a:xfrm>
            <a:off x="7091095" y="3106274"/>
            <a:ext cx="893956" cy="897254"/>
          </a:xfrm>
          <a:prstGeom prst="rect">
            <a:avLst/>
          </a:prstGeom>
        </p:spPr>
      </p:pic>
      <p:sp>
        <p:nvSpPr>
          <p:cNvPr id="22" name="Matched Rectangle 1">
            <a:extLst>
              <a:ext uri="{FF2B5EF4-FFF2-40B4-BE49-F238E27FC236}">
                <a16:creationId xmlns:a16="http://schemas.microsoft.com/office/drawing/2014/main" id="{BA807B15-F426-7977-139A-5F4E090E2663}"/>
              </a:ext>
            </a:extLst>
          </p:cNvPr>
          <p:cNvSpPr>
            <a:spLocks noGrp="1"/>
          </p:cNvSpPr>
          <p:nvPr/>
        </p:nvSpPr>
        <p:spPr>
          <a:xfrm>
            <a:off x="6120696" y="4490029"/>
            <a:ext cx="2736027" cy="1636165"/>
          </a:xfrm>
          <a:prstGeom prst="rect">
            <a:avLst/>
          </a:prstGeom>
          <a:solidFill>
            <a:schemeClr val="bg1"/>
          </a:solidFill>
          <a:ln w="50800">
            <a:solidFill>
              <a:srgbClr val="1F7D3E"/>
            </a:solidFill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F7D3E"/>
                </a:solidFill>
                <a:latin typeface="Aptos"/>
              </a:rPr>
              <a:t>    Product Manager                    </a:t>
            </a:r>
          </a:p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F7D3E"/>
                </a:solidFill>
                <a:latin typeface="Aptos"/>
              </a:rPr>
              <a:t>            Approved</a:t>
            </a:r>
            <a:endParaRPr sz="2400" dirty="0">
              <a:solidFill>
                <a:srgbClr val="1F7D3E"/>
              </a:solidFill>
              <a:latin typeface="Apto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1D492F9-F8CF-6D8D-522F-36B70C253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84"/>
          <a:stretch>
            <a:fillRect/>
          </a:stretch>
        </p:blipFill>
        <p:spPr>
          <a:xfrm>
            <a:off x="7115791" y="5173866"/>
            <a:ext cx="893956" cy="897254"/>
          </a:xfrm>
          <a:prstGeom prst="rect">
            <a:avLst/>
          </a:prstGeom>
        </p:spPr>
      </p:pic>
      <p:sp>
        <p:nvSpPr>
          <p:cNvPr id="24" name="Matched Rectangle 1">
            <a:extLst>
              <a:ext uri="{FF2B5EF4-FFF2-40B4-BE49-F238E27FC236}">
                <a16:creationId xmlns:a16="http://schemas.microsoft.com/office/drawing/2014/main" id="{21CBC3AC-143C-B511-5A03-4E0E53921BF2}"/>
              </a:ext>
            </a:extLst>
          </p:cNvPr>
          <p:cNvSpPr>
            <a:spLocks noGrp="1"/>
          </p:cNvSpPr>
          <p:nvPr/>
        </p:nvSpPr>
        <p:spPr>
          <a:xfrm>
            <a:off x="6774275" y="202433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Updated Fixed Bid Project</a:t>
            </a:r>
          </a:p>
        </p:txBody>
      </p:sp>
    </p:spTree>
    <p:extLst>
      <p:ext uri="{BB962C8B-B14F-4D97-AF65-F5344CB8AC3E}">
        <p14:creationId xmlns:p14="http://schemas.microsoft.com/office/powerpoint/2010/main" val="323738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86AA-7E7B-ED3C-FCBE-C086345B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53E69E2F-4A67-8D22-3F97-DE511EA2BA0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C3DBB50F-CF11-8818-B3ED-51DF4EDE074F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Project Funding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C2CB39F1-D7E1-94F9-890E-363BDACEAD58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D9B64-C4C4-3EF6-5A78-D54069AC3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722" y="2857500"/>
            <a:ext cx="2617424" cy="2617424"/>
          </a:xfrm>
          <a:prstGeom prst="rect">
            <a:avLst/>
          </a:prstGeom>
        </p:spPr>
      </p:pic>
      <p:sp>
        <p:nvSpPr>
          <p:cNvPr id="10" name="Matched Rectangle 1">
            <a:extLst>
              <a:ext uri="{FF2B5EF4-FFF2-40B4-BE49-F238E27FC236}">
                <a16:creationId xmlns:a16="http://schemas.microsoft.com/office/drawing/2014/main" id="{3AF57453-39BA-BB29-F74E-96DEF9D1DFAE}"/>
              </a:ext>
            </a:extLst>
          </p:cNvPr>
          <p:cNvSpPr>
            <a:spLocks noGrp="1"/>
          </p:cNvSpPr>
          <p:nvPr/>
        </p:nvSpPr>
        <p:spPr>
          <a:xfrm>
            <a:off x="444912" y="200528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Captain Rob’s Jorgen-O’s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Funded Product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334963-1D84-55BA-CB0A-B5B4DE7B9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sp>
        <p:nvSpPr>
          <p:cNvPr id="4" name="Matched Rectangle 1">
            <a:extLst>
              <a:ext uri="{FF2B5EF4-FFF2-40B4-BE49-F238E27FC236}">
                <a16:creationId xmlns:a16="http://schemas.microsoft.com/office/drawing/2014/main" id="{9D3A76BD-161D-9CF2-8835-3F0E5A569F8E}"/>
              </a:ext>
            </a:extLst>
          </p:cNvPr>
          <p:cNvSpPr>
            <a:spLocks noGrp="1"/>
          </p:cNvSpPr>
          <p:nvPr/>
        </p:nvSpPr>
        <p:spPr>
          <a:xfrm>
            <a:off x="3641018" y="3429000"/>
            <a:ext cx="204204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$80,000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u="sng" dirty="0">
                <a:solidFill>
                  <a:srgbClr val="17324D"/>
                </a:solidFill>
                <a:latin typeface="Aptos"/>
              </a:rPr>
              <a:t>$28,000</a:t>
            </a:r>
          </a:p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$52,000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endParaRPr sz="2800" u="sng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4A73F1-DE89-194E-2FE7-61DFD4F89A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1" t="34011" r="10000" b="14735"/>
          <a:stretch>
            <a:fillRect/>
          </a:stretch>
        </p:blipFill>
        <p:spPr>
          <a:xfrm>
            <a:off x="7702891" y="3131266"/>
            <a:ext cx="3100387" cy="2160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70C456-12E6-02F8-4C4E-90B02C77D7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75" y="3249445"/>
            <a:ext cx="2042045" cy="2042045"/>
          </a:xfrm>
          <a:prstGeom prst="rect">
            <a:avLst/>
          </a:prstGeom>
        </p:spPr>
      </p:pic>
      <p:sp>
        <p:nvSpPr>
          <p:cNvPr id="11" name="Matched Rectangle 1">
            <a:extLst>
              <a:ext uri="{FF2B5EF4-FFF2-40B4-BE49-F238E27FC236}">
                <a16:creationId xmlns:a16="http://schemas.microsoft.com/office/drawing/2014/main" id="{CB64AEA9-D49D-3963-5BDA-1656816EAB1D}"/>
              </a:ext>
            </a:extLst>
          </p:cNvPr>
          <p:cNvSpPr>
            <a:spLocks noGrp="1"/>
          </p:cNvSpPr>
          <p:nvPr/>
        </p:nvSpPr>
        <p:spPr>
          <a:xfrm>
            <a:off x="7233974" y="200528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Production Cost Pool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“</a:t>
            </a:r>
            <a:r>
              <a:rPr lang="en-US" sz="2400" b="0" dirty="0">
                <a:solidFill>
                  <a:srgbClr val="17324D"/>
                </a:solidFill>
                <a:latin typeface="Aptos"/>
              </a:rPr>
              <a:t>Bank Account”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3" name="Matched Rectangle 1">
            <a:extLst>
              <a:ext uri="{FF2B5EF4-FFF2-40B4-BE49-F238E27FC236}">
                <a16:creationId xmlns:a16="http://schemas.microsoft.com/office/drawing/2014/main" id="{6E0C6164-BF74-0D32-EA42-77D3BF868795}"/>
              </a:ext>
            </a:extLst>
          </p:cNvPr>
          <p:cNvSpPr>
            <a:spLocks noGrp="1"/>
          </p:cNvSpPr>
          <p:nvPr/>
        </p:nvSpPr>
        <p:spPr>
          <a:xfrm>
            <a:off x="1739453" y="5862637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$80,000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5" name="Matched Rectangle 1">
            <a:extLst>
              <a:ext uri="{FF2B5EF4-FFF2-40B4-BE49-F238E27FC236}">
                <a16:creationId xmlns:a16="http://schemas.microsoft.com/office/drawing/2014/main" id="{EE7C5A07-7E8D-4353-9CDD-A35A0B437EEC}"/>
              </a:ext>
            </a:extLst>
          </p:cNvPr>
          <p:cNvSpPr>
            <a:spLocks noGrp="1"/>
          </p:cNvSpPr>
          <p:nvPr/>
        </p:nvSpPr>
        <p:spPr>
          <a:xfrm>
            <a:off x="8278366" y="5600700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$28,000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6" name="Matched Rectangle 1">
            <a:extLst>
              <a:ext uri="{FF2B5EF4-FFF2-40B4-BE49-F238E27FC236}">
                <a16:creationId xmlns:a16="http://schemas.microsoft.com/office/drawing/2014/main" id="{A48250BF-F427-77FA-A1B2-76B72695BEF3}"/>
              </a:ext>
            </a:extLst>
          </p:cNvPr>
          <p:cNvSpPr>
            <a:spLocks noGrp="1"/>
          </p:cNvSpPr>
          <p:nvPr/>
        </p:nvSpPr>
        <p:spPr>
          <a:xfrm>
            <a:off x="5829269" y="3429000"/>
            <a:ext cx="204204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Funded</a:t>
            </a:r>
          </a:p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Projects</a:t>
            </a:r>
          </a:p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Funded</a:t>
            </a:r>
            <a:endParaRPr sz="2800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2813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7.40741E-7 L 0.51132 0.02523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34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8F02-1CF1-AE4F-8D41-30158F878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F3CA7B1-5734-60A0-27C1-10FB6AEA6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58" y="2304272"/>
            <a:ext cx="2135353" cy="2135353"/>
          </a:xfrm>
          <a:prstGeom prst="rect">
            <a:avLst/>
          </a:prstGeom>
        </p:spPr>
      </p:pic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ACB3A70B-8344-232F-103D-99AB939DCBB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B98F37BF-0385-5DC1-2E15-F9E43737FED8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dirty="0">
                <a:solidFill>
                  <a:srgbClr val="17324D"/>
                </a:solidFill>
                <a:latin typeface="Aptos"/>
              </a:rPr>
              <a:t>Project Funding</a:t>
            </a:r>
            <a:endParaRPr sz="40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979BD3CF-4CE5-0A61-28D4-3D9982A840A2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8A639F-D78C-ACCE-57CA-92EE9A18E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13" y="177924"/>
            <a:ext cx="1464704" cy="1550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C68948-08C9-D3BC-F00E-3F7A3BAB3A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1" t="34011" r="10000" b="14735"/>
          <a:stretch>
            <a:fillRect/>
          </a:stretch>
        </p:blipFill>
        <p:spPr>
          <a:xfrm>
            <a:off x="7702891" y="3131266"/>
            <a:ext cx="3100387" cy="2160224"/>
          </a:xfrm>
          <a:prstGeom prst="rect">
            <a:avLst/>
          </a:prstGeom>
        </p:spPr>
      </p:pic>
      <p:sp>
        <p:nvSpPr>
          <p:cNvPr id="11" name="Matched Rectangle 1">
            <a:extLst>
              <a:ext uri="{FF2B5EF4-FFF2-40B4-BE49-F238E27FC236}">
                <a16:creationId xmlns:a16="http://schemas.microsoft.com/office/drawing/2014/main" id="{BDF7EE60-2999-C9F2-C71D-9BAE4B730A5D}"/>
              </a:ext>
            </a:extLst>
          </p:cNvPr>
          <p:cNvSpPr>
            <a:spLocks noGrp="1"/>
          </p:cNvSpPr>
          <p:nvPr/>
        </p:nvSpPr>
        <p:spPr>
          <a:xfrm>
            <a:off x="7272074" y="200528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Production Cost Pool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0" dirty="0">
                <a:solidFill>
                  <a:srgbClr val="17324D"/>
                </a:solidFill>
                <a:latin typeface="Aptos"/>
              </a:rPr>
              <a:t>“Bank Account”</a:t>
            </a:r>
            <a:endParaRPr sz="2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5" name="Matched Rectangle 1">
            <a:extLst>
              <a:ext uri="{FF2B5EF4-FFF2-40B4-BE49-F238E27FC236}">
                <a16:creationId xmlns:a16="http://schemas.microsoft.com/office/drawing/2014/main" id="{27ECA182-142D-5E9C-CF22-27DE54AA054C}"/>
              </a:ext>
            </a:extLst>
          </p:cNvPr>
          <p:cNvSpPr>
            <a:spLocks noGrp="1"/>
          </p:cNvSpPr>
          <p:nvPr/>
        </p:nvSpPr>
        <p:spPr>
          <a:xfrm>
            <a:off x="8278367" y="5594142"/>
            <a:ext cx="237896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$28,000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CE8312-9A92-E78C-E9FF-986AF22813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376" y="2970211"/>
            <a:ext cx="1469414" cy="14694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5850BE-AA7C-7DBD-6578-05F7D7B14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83" y="4383798"/>
            <a:ext cx="1464704" cy="1550863"/>
          </a:xfrm>
          <a:prstGeom prst="rect">
            <a:avLst/>
          </a:prstGeom>
        </p:spPr>
      </p:pic>
      <p:sp>
        <p:nvSpPr>
          <p:cNvPr id="19" name="Matched Rectangle 1">
            <a:extLst>
              <a:ext uri="{FF2B5EF4-FFF2-40B4-BE49-F238E27FC236}">
                <a16:creationId xmlns:a16="http://schemas.microsoft.com/office/drawing/2014/main" id="{BBC112E9-5931-1B8D-C01C-56C636010A85}"/>
              </a:ext>
            </a:extLst>
          </p:cNvPr>
          <p:cNvSpPr>
            <a:spLocks noGrp="1"/>
          </p:cNvSpPr>
          <p:nvPr/>
        </p:nvSpPr>
        <p:spPr>
          <a:xfrm>
            <a:off x="2910943" y="3429000"/>
            <a:ext cx="204204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$28,000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$22,000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u="sng" dirty="0">
                <a:solidFill>
                  <a:srgbClr val="17324D"/>
                </a:solidFill>
                <a:latin typeface="Aptos"/>
              </a:rPr>
              <a:t>$6,000</a:t>
            </a:r>
          </a:p>
          <a:p>
            <a:pPr algn="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$0</a:t>
            </a:r>
          </a:p>
          <a:p>
            <a:pPr marL="457200" indent="-457200" algn="r">
              <a:buFontTx/>
              <a:buChar char="-"/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endParaRPr sz="2800" u="sng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Matched Rectangle 1">
            <a:extLst>
              <a:ext uri="{FF2B5EF4-FFF2-40B4-BE49-F238E27FC236}">
                <a16:creationId xmlns:a16="http://schemas.microsoft.com/office/drawing/2014/main" id="{1FA4A965-1DE1-9F68-17BB-57EFAEF39292}"/>
              </a:ext>
            </a:extLst>
          </p:cNvPr>
          <p:cNvSpPr>
            <a:spLocks noGrp="1"/>
          </p:cNvSpPr>
          <p:nvPr/>
        </p:nvSpPr>
        <p:spPr>
          <a:xfrm>
            <a:off x="5052286" y="3429000"/>
            <a:ext cx="204204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Cost Pool</a:t>
            </a:r>
          </a:p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Brand Book</a:t>
            </a:r>
          </a:p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17324D"/>
                </a:solidFill>
                <a:latin typeface="Aptos"/>
              </a:rPr>
              <a:t>Design</a:t>
            </a:r>
            <a:endParaRPr sz="280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1" name="Matched Rectangle 1">
            <a:extLst>
              <a:ext uri="{FF2B5EF4-FFF2-40B4-BE49-F238E27FC236}">
                <a16:creationId xmlns:a16="http://schemas.microsoft.com/office/drawing/2014/main" id="{8FEA4C4B-5596-BA5B-6A0A-9DAE8EF155E8}"/>
              </a:ext>
            </a:extLst>
          </p:cNvPr>
          <p:cNvSpPr>
            <a:spLocks noGrp="1"/>
          </p:cNvSpPr>
          <p:nvPr/>
        </p:nvSpPr>
        <p:spPr>
          <a:xfrm>
            <a:off x="8578402" y="5586411"/>
            <a:ext cx="267431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$6,000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75A110-9F21-B09F-2590-C3781C9E00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376" y="3969537"/>
            <a:ext cx="1469414" cy="1469414"/>
          </a:xfrm>
          <a:prstGeom prst="rect">
            <a:avLst/>
          </a:prstGeom>
        </p:spPr>
      </p:pic>
      <p:sp>
        <p:nvSpPr>
          <p:cNvPr id="23" name="Matched Rectangle 1">
            <a:extLst>
              <a:ext uri="{FF2B5EF4-FFF2-40B4-BE49-F238E27FC236}">
                <a16:creationId xmlns:a16="http://schemas.microsoft.com/office/drawing/2014/main" id="{AC3B2304-B20D-90D9-11DA-94C3A81B1716}"/>
              </a:ext>
            </a:extLst>
          </p:cNvPr>
          <p:cNvSpPr>
            <a:spLocks noGrp="1"/>
          </p:cNvSpPr>
          <p:nvPr/>
        </p:nvSpPr>
        <p:spPr>
          <a:xfrm>
            <a:off x="9041155" y="5601872"/>
            <a:ext cx="243646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400" dirty="0">
                <a:solidFill>
                  <a:srgbClr val="17324D"/>
                </a:solidFill>
                <a:latin typeface="Aptos"/>
              </a:rPr>
              <a:t>$0</a:t>
            </a:r>
            <a:endParaRPr sz="4400" b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5" name="Matched Rectangle 1">
            <a:extLst>
              <a:ext uri="{FF2B5EF4-FFF2-40B4-BE49-F238E27FC236}">
                <a16:creationId xmlns:a16="http://schemas.microsoft.com/office/drawing/2014/main" id="{C6624BFC-00C7-7E6F-8AF9-B6ADE543FD82}"/>
              </a:ext>
            </a:extLst>
          </p:cNvPr>
          <p:cNvSpPr>
            <a:spLocks noGrp="1"/>
          </p:cNvSpPr>
          <p:nvPr/>
        </p:nvSpPr>
        <p:spPr>
          <a:xfrm>
            <a:off x="0" y="200528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7324D"/>
                </a:solidFill>
                <a:latin typeface="Aptos"/>
              </a:rPr>
              <a:t>Vendor Payments</a:t>
            </a:r>
          </a:p>
        </p:txBody>
      </p:sp>
      <p:sp>
        <p:nvSpPr>
          <p:cNvPr id="26" name="Matched Rectangle 1">
            <a:extLst>
              <a:ext uri="{FF2B5EF4-FFF2-40B4-BE49-F238E27FC236}">
                <a16:creationId xmlns:a16="http://schemas.microsoft.com/office/drawing/2014/main" id="{C9DD9EA3-A8C3-04B2-B233-C39C96EF006F}"/>
              </a:ext>
            </a:extLst>
          </p:cNvPr>
          <p:cNvSpPr>
            <a:spLocks noGrp="1"/>
          </p:cNvSpPr>
          <p:nvPr/>
        </p:nvSpPr>
        <p:spPr>
          <a:xfrm>
            <a:off x="7272073" y="6219825"/>
            <a:ext cx="4038219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i="1" dirty="0">
                <a:solidFill>
                  <a:srgbClr val="17324D"/>
                </a:solidFill>
                <a:latin typeface="Aptos"/>
              </a:rPr>
              <a:t>Net Zero is the Goal!</a:t>
            </a:r>
          </a:p>
        </p:txBody>
      </p:sp>
    </p:spTree>
    <p:extLst>
      <p:ext uri="{BB962C8B-B14F-4D97-AF65-F5344CB8AC3E}">
        <p14:creationId xmlns:p14="http://schemas.microsoft.com/office/powerpoint/2010/main" val="25987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0.00209 L -0.62539 -0.0469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76" y="-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-0.61953 0.06319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003" y="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  <p:bldP spid="21" grpId="0" build="allAtOnce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3A8EAA4-D611-4511-AD28-0A468E700B9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ADADE0-1C03-49BA-9B47-5FED08520AA0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000" b="0">
                <a:solidFill>
                  <a:srgbClr val="17324D"/>
                </a:solidFill>
                <a:latin typeface="Aptos"/>
              </a:rPr>
              <a:t>Projects in the new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7BACE4-5F28-4FE6-BDB3-96A1371100F7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318084" y="2238375"/>
            <a:ext cx="3200400" cy="7417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r>
              <a:rPr sz="2800" b="1" i="0">
                <a:solidFill>
                  <a:srgbClr val="17324D"/>
                </a:solidFill>
                <a:latin typeface="Aptos"/>
              </a:rPr>
              <a:t>Bill</a:t>
            </a:r>
            <a:r>
              <a:rPr lang="en-US" sz="2800" b="1">
                <a:solidFill>
                  <a:srgbClr val="17324D"/>
                </a:solidFill>
                <a:latin typeface="Aptos"/>
              </a:rPr>
              <a:t> on intervals</a:t>
            </a:r>
            <a:endParaRPr sz="2800" b="1" i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18084" y="3108158"/>
            <a:ext cx="3200400" cy="14121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 lnSpcReduction="20000"/>
          </a:bodyPr>
          <a:lstStyle/>
          <a:p>
            <a:r>
              <a:rPr lang="en-US" sz="2800" b="0" i="0" dirty="0">
                <a:solidFill>
                  <a:srgbClr val="5D6B76"/>
                </a:solidFill>
                <a:latin typeface="Aptos"/>
              </a:rPr>
              <a:t>Product is billed over the life of the project but not to exceed the approved bid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0084" y="2238375"/>
            <a:ext cx="3200400" cy="7417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r>
              <a:rPr sz="2800" b="1" i="0">
                <a:solidFill>
                  <a:srgbClr val="17324D"/>
                </a:solidFill>
                <a:latin typeface="Aptos"/>
              </a:rPr>
              <a:t>Adjust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0084" y="2980142"/>
            <a:ext cx="3200400" cy="17124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 fontScale="92500"/>
          </a:bodyPr>
          <a:lstStyle/>
          <a:p>
            <a:r>
              <a:rPr lang="en-US" sz="2800">
                <a:solidFill>
                  <a:srgbClr val="5D6B76"/>
                </a:solidFill>
                <a:latin typeface="Aptos"/>
              </a:rPr>
              <a:t>Project budget change orders </a:t>
            </a:r>
            <a:r>
              <a:rPr sz="2800" b="0" i="0">
                <a:solidFill>
                  <a:srgbClr val="5D6B76"/>
                </a:solidFill>
                <a:latin typeface="Aptos"/>
              </a:rPr>
              <a:t>can </a:t>
            </a:r>
            <a:r>
              <a:rPr lang="en-US" sz="2800" b="0" i="0">
                <a:solidFill>
                  <a:srgbClr val="5D6B76"/>
                </a:solidFill>
                <a:latin typeface="Aptos"/>
              </a:rPr>
              <a:t>be made</a:t>
            </a:r>
            <a:r>
              <a:rPr sz="2800" b="0" i="0">
                <a:solidFill>
                  <a:srgbClr val="5D6B76"/>
                </a:solidFill>
                <a:latin typeface="Aptos"/>
              </a:rPr>
              <a:t> with Product Manager approval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56138" y="5410035"/>
            <a:ext cx="9906000" cy="1078433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14074" y="5521764"/>
            <a:ext cx="9475076" cy="85497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rmAutofit/>
          </a:bodyPr>
          <a:lstStyle/>
          <a:p>
            <a:pPr algn="ctr"/>
            <a:r>
              <a:rPr sz="2400" b="1" i="0">
                <a:solidFill>
                  <a:srgbClr val="1E2A33"/>
                </a:solidFill>
                <a:latin typeface="Aptos"/>
              </a:rPr>
              <a:t>Flexibility: </a:t>
            </a:r>
            <a:r>
              <a:rPr sz="2400" b="0" i="0">
                <a:solidFill>
                  <a:srgbClr val="1E2A33"/>
                </a:solidFill>
                <a:latin typeface="Aptos"/>
              </a:rPr>
              <a:t>budget changes do not need to go to Finance every time if the Product Manager approves. </a:t>
            </a:r>
            <a:endParaRPr lang="en-US" sz="2400" b="0" i="0">
              <a:solidFill>
                <a:srgbClr val="1E2A3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6878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58651-4142-6747-202A-41AE3B83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4511BE2-F798-DA36-4772-5245128ED2E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D6D227-39B0-7B87-7664-4CB6200714A1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rmAutofit fontScale="92500" lnSpcReduction="10000"/>
          </a:bodyPr>
          <a:lstStyle/>
          <a:p>
            <a:r>
              <a:rPr lang="en-US" sz="4000">
                <a:solidFill>
                  <a:srgbClr val="17324D"/>
                </a:solidFill>
              </a:rPr>
              <a:t>Projects overview summary</a:t>
            </a:r>
            <a:endParaRPr lang="en-US" sz="4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679CC1-7A4E-432A-9AD0-3A26E6DD94E7}"/>
              </a:ext>
            </a:extLst>
          </p:cNvPr>
          <p:cNvSpPr>
            <a:spLocks noGrp="1"/>
          </p:cNvSpPr>
          <p:nvPr/>
        </p:nvSpPr>
        <p:spPr>
          <a:xfrm>
            <a:off x="685800" y="135670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63CB0AA-7B9F-3371-C95E-655EA6EED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5" y="1667593"/>
            <a:ext cx="12070750" cy="147080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8" name="Shape 10">
            <a:extLst>
              <a:ext uri="{FF2B5EF4-FFF2-40B4-BE49-F238E27FC236}">
                <a16:creationId xmlns:a16="http://schemas.microsoft.com/office/drawing/2014/main" id="{D8022A88-1C86-432A-D03A-21A034B9AFB1}"/>
              </a:ext>
            </a:extLst>
          </p:cNvPr>
          <p:cNvSpPr/>
          <p:nvPr/>
        </p:nvSpPr>
        <p:spPr>
          <a:xfrm>
            <a:off x="655320" y="3706268"/>
            <a:ext cx="3429000" cy="2188845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B5D56A3-AB01-2B23-3809-FE5741351E12}"/>
              </a:ext>
            </a:extLst>
          </p:cNvPr>
          <p:cNvSpPr/>
          <p:nvPr/>
        </p:nvSpPr>
        <p:spPr>
          <a:xfrm>
            <a:off x="883920" y="3934869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235E5E"/>
                </a:solidFill>
              </a:rPr>
              <a:t>Projects in the program</a:t>
            </a:r>
            <a:endParaRPr lang="en-US" sz="240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5DCC74E-4585-4E69-8198-12FA477937AA}"/>
              </a:ext>
            </a:extLst>
          </p:cNvPr>
          <p:cNvSpPr/>
          <p:nvPr/>
        </p:nvSpPr>
        <p:spPr>
          <a:xfrm>
            <a:off x="883920" y="4346349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800" b="0">
                <a:solidFill>
                  <a:srgbClr val="12263A"/>
                </a:solidFill>
              </a:rPr>
              <a:t>Lists every project individually</a:t>
            </a:r>
            <a:endParaRPr lang="en-US" sz="280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BE8FA18A-883F-987C-EB98-79B11B2407E0}"/>
              </a:ext>
            </a:extLst>
          </p:cNvPr>
          <p:cNvSpPr/>
          <p:nvPr/>
        </p:nvSpPr>
        <p:spPr>
          <a:xfrm>
            <a:off x="4248912" y="3640250"/>
            <a:ext cx="3429000" cy="2192655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6F1F1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B5C40CA-0CF3-AE72-6D39-897F448F6F35}"/>
              </a:ext>
            </a:extLst>
          </p:cNvPr>
          <p:cNvSpPr/>
          <p:nvPr/>
        </p:nvSpPr>
        <p:spPr>
          <a:xfrm>
            <a:off x="4514088" y="3934869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235E5E"/>
                </a:solidFill>
              </a:rPr>
              <a:t>Individual budgets</a:t>
            </a:r>
            <a:endParaRPr lang="en-US" sz="24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2D302E5-C465-49D1-A771-5D9284D20414}"/>
              </a:ext>
            </a:extLst>
          </p:cNvPr>
          <p:cNvSpPr/>
          <p:nvPr/>
        </p:nvSpPr>
        <p:spPr>
          <a:xfrm>
            <a:off x="4514088" y="4368748"/>
            <a:ext cx="3136392" cy="1395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800" b="0">
                <a:solidFill>
                  <a:srgbClr val="12263A"/>
                </a:solidFill>
              </a:rPr>
              <a:t>$12,500 and $20,000 combine into the $32,500 budget total.</a:t>
            </a:r>
            <a:endParaRPr lang="en-US" sz="280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AF3D10DD-C2FE-C537-0551-2A5A506C90AD}"/>
              </a:ext>
            </a:extLst>
          </p:cNvPr>
          <p:cNvSpPr/>
          <p:nvPr/>
        </p:nvSpPr>
        <p:spPr>
          <a:xfrm>
            <a:off x="7915656" y="3706269"/>
            <a:ext cx="3429000" cy="2188844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FAF2E4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F69D2934-8E87-FF6E-E468-811DD4C09432}"/>
              </a:ext>
            </a:extLst>
          </p:cNvPr>
          <p:cNvSpPr/>
          <p:nvPr/>
        </p:nvSpPr>
        <p:spPr>
          <a:xfrm>
            <a:off x="8144256" y="3934869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704E00"/>
                </a:solidFill>
              </a:rPr>
              <a:t>Billed revenue</a:t>
            </a:r>
            <a:endParaRPr lang="en-US" sz="240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A38CF034-D8D1-EF00-A3A0-1EE165609F81}"/>
              </a:ext>
            </a:extLst>
          </p:cNvPr>
          <p:cNvSpPr/>
          <p:nvPr/>
        </p:nvSpPr>
        <p:spPr>
          <a:xfrm>
            <a:off x="8144256" y="4437789"/>
            <a:ext cx="2971800" cy="9163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800" b="0">
                <a:solidFill>
                  <a:srgbClr val="243447"/>
                </a:solidFill>
              </a:rPr>
              <a:t>Billed Revenue shows $0 until billing begins</a:t>
            </a:r>
            <a:endParaRPr lang="en-US" sz="3200"/>
          </a:p>
        </p:txBody>
      </p:sp>
      <p:sp>
        <p:nvSpPr>
          <p:cNvPr id="28" name="Card Accent">
            <a:extLst>
              <a:ext uri="{FF2B5EF4-FFF2-40B4-BE49-F238E27FC236}">
                <a16:creationId xmlns:a16="http://schemas.microsoft.com/office/drawing/2014/main" id="{51DD12F8-D5D2-CFDE-8F83-D5C341FF590F}"/>
              </a:ext>
            </a:extLst>
          </p:cNvPr>
          <p:cNvSpPr/>
          <p:nvPr/>
        </p:nvSpPr>
        <p:spPr>
          <a:xfrm>
            <a:off x="655320" y="3706269"/>
            <a:ext cx="64008" cy="218884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30" name="Card Accent">
            <a:extLst>
              <a:ext uri="{FF2B5EF4-FFF2-40B4-BE49-F238E27FC236}">
                <a16:creationId xmlns:a16="http://schemas.microsoft.com/office/drawing/2014/main" id="{C7853677-BE68-DFBE-ED92-22C901CB30FF}"/>
              </a:ext>
            </a:extLst>
          </p:cNvPr>
          <p:cNvSpPr/>
          <p:nvPr/>
        </p:nvSpPr>
        <p:spPr>
          <a:xfrm>
            <a:off x="4285488" y="3706269"/>
            <a:ext cx="64008" cy="2188844"/>
          </a:xfrm>
          <a:prstGeom prst="rect">
            <a:avLst/>
          </a:prstGeom>
          <a:solidFill>
            <a:srgbClr val="2D8C8C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33" name="Card Accent">
            <a:extLst>
              <a:ext uri="{FF2B5EF4-FFF2-40B4-BE49-F238E27FC236}">
                <a16:creationId xmlns:a16="http://schemas.microsoft.com/office/drawing/2014/main" id="{0A5D14E7-B9E4-F7B0-797D-0B02D8E4AB0A}"/>
              </a:ext>
            </a:extLst>
          </p:cNvPr>
          <p:cNvSpPr/>
          <p:nvPr/>
        </p:nvSpPr>
        <p:spPr>
          <a:xfrm>
            <a:off x="7915656" y="3706268"/>
            <a:ext cx="45719" cy="2126637"/>
          </a:xfrm>
          <a:prstGeom prst="rect">
            <a:avLst/>
          </a:prstGeom>
          <a:solidFill>
            <a:srgbClr val="E5A63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19936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35592-A5BE-9DD6-3EAB-AD0828DF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ched Rectangle 13">
            <a:extLst>
              <a:ext uri="{FF2B5EF4-FFF2-40B4-BE49-F238E27FC236}">
                <a16:creationId xmlns:a16="http://schemas.microsoft.com/office/drawing/2014/main" id="{4A7C0610-4F07-E2FE-5CDD-B504F6864D6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3" name="Matched Rectangle 1">
            <a:extLst>
              <a:ext uri="{FF2B5EF4-FFF2-40B4-BE49-F238E27FC236}">
                <a16:creationId xmlns:a16="http://schemas.microsoft.com/office/drawing/2014/main" id="{DD1E99C7-140E-EF10-51B9-77E22DB82DFD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1" dirty="0">
                <a:solidFill>
                  <a:srgbClr val="17324D"/>
                </a:solidFill>
                <a:latin typeface="Aptos"/>
              </a:rPr>
              <a:t>Overview</a:t>
            </a:r>
            <a:endParaRPr sz="4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5" name="Matched Rectangle 3">
            <a:extLst>
              <a:ext uri="{FF2B5EF4-FFF2-40B4-BE49-F238E27FC236}">
                <a16:creationId xmlns:a16="http://schemas.microsoft.com/office/drawing/2014/main" id="{F1CA6CC1-AAB4-0F53-2FED-F007ACFB91DC}"/>
              </a:ext>
            </a:extLst>
          </p:cNvPr>
          <p:cNvSpPr>
            <a:spLocks noGrp="1"/>
          </p:cNvSpPr>
          <p:nvPr/>
        </p:nvSpPr>
        <p:spPr>
          <a:xfrm>
            <a:off x="685800" y="142303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9D9FEB-30F0-ADAB-75B2-6017F3BBD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44" y="2771700"/>
            <a:ext cx="1514030" cy="1603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36B7B7-AD26-E9CA-37BA-255E5B461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414" y="2520146"/>
            <a:ext cx="2106197" cy="2106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662850-D69D-3B25-80D0-A5EBF0214B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026" y="2903614"/>
            <a:ext cx="1339260" cy="1339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0A3AA-FC67-57FE-48FA-91EADF7C79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1" t="34011" r="10000" b="14735"/>
          <a:stretch>
            <a:fillRect/>
          </a:stretch>
        </p:blipFill>
        <p:spPr>
          <a:xfrm>
            <a:off x="7477343" y="2935378"/>
            <a:ext cx="1876538" cy="13074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91A7AF-1EA5-232E-1637-AC01A90EE6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963" y="2540937"/>
            <a:ext cx="2135353" cy="21353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38961B-E6F5-E47C-04A0-C68720C99C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84"/>
          <a:stretch>
            <a:fillRect/>
          </a:stretch>
        </p:blipFill>
        <p:spPr>
          <a:xfrm>
            <a:off x="627839" y="2598980"/>
            <a:ext cx="1941364" cy="1948528"/>
          </a:xfrm>
          <a:prstGeom prst="rect">
            <a:avLst/>
          </a:prstGeom>
        </p:spPr>
      </p:pic>
      <p:sp>
        <p:nvSpPr>
          <p:cNvPr id="16" name="Matched Rectangle 1">
            <a:extLst>
              <a:ext uri="{FF2B5EF4-FFF2-40B4-BE49-F238E27FC236}">
                <a16:creationId xmlns:a16="http://schemas.microsoft.com/office/drawing/2014/main" id="{E05B7BC7-428F-4FB8-A499-30397060690D}"/>
              </a:ext>
            </a:extLst>
          </p:cNvPr>
          <p:cNvSpPr>
            <a:spLocks noGrp="1"/>
          </p:cNvSpPr>
          <p:nvPr/>
        </p:nvSpPr>
        <p:spPr>
          <a:xfrm>
            <a:off x="600694" y="1853142"/>
            <a:ext cx="2106197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Approved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Product</a:t>
            </a:r>
            <a:endParaRPr sz="24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7" name="Matched Rectangle 1">
            <a:extLst>
              <a:ext uri="{FF2B5EF4-FFF2-40B4-BE49-F238E27FC236}">
                <a16:creationId xmlns:a16="http://schemas.microsoft.com/office/drawing/2014/main" id="{D3ACF4D0-50E7-76D0-6710-8A8F361DC1CE}"/>
              </a:ext>
            </a:extLst>
          </p:cNvPr>
          <p:cNvSpPr>
            <a:spLocks noGrp="1"/>
          </p:cNvSpPr>
          <p:nvPr/>
        </p:nvSpPr>
        <p:spPr>
          <a:xfrm>
            <a:off x="2929106" y="1853142"/>
            <a:ext cx="2106197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Product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Limit</a:t>
            </a:r>
            <a:endParaRPr sz="24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8" name="Matched Rectangle 1">
            <a:extLst>
              <a:ext uri="{FF2B5EF4-FFF2-40B4-BE49-F238E27FC236}">
                <a16:creationId xmlns:a16="http://schemas.microsoft.com/office/drawing/2014/main" id="{CEA4B2B9-27FA-3730-2D83-B39205EDBA63}"/>
              </a:ext>
            </a:extLst>
          </p:cNvPr>
          <p:cNvSpPr>
            <a:spLocks noGrp="1"/>
          </p:cNvSpPr>
          <p:nvPr/>
        </p:nvSpPr>
        <p:spPr>
          <a:xfrm>
            <a:off x="5104572" y="1853142"/>
            <a:ext cx="2106197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Product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Funded</a:t>
            </a:r>
            <a:endParaRPr sz="24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9" name="Matched Rectangle 1">
            <a:extLst>
              <a:ext uri="{FF2B5EF4-FFF2-40B4-BE49-F238E27FC236}">
                <a16:creationId xmlns:a16="http://schemas.microsoft.com/office/drawing/2014/main" id="{1180AEE9-7FB6-108B-5D32-F4D1A3394757}"/>
              </a:ext>
            </a:extLst>
          </p:cNvPr>
          <p:cNvSpPr>
            <a:spLocks noGrp="1"/>
          </p:cNvSpPr>
          <p:nvPr/>
        </p:nvSpPr>
        <p:spPr>
          <a:xfrm>
            <a:off x="7358505" y="1853142"/>
            <a:ext cx="2106197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Project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Funded</a:t>
            </a:r>
            <a:endParaRPr sz="24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Matched Rectangle 1">
            <a:extLst>
              <a:ext uri="{FF2B5EF4-FFF2-40B4-BE49-F238E27FC236}">
                <a16:creationId xmlns:a16="http://schemas.microsoft.com/office/drawing/2014/main" id="{0D4FDA41-26E2-6B18-FF64-62BB3115B888}"/>
              </a:ext>
            </a:extLst>
          </p:cNvPr>
          <p:cNvSpPr>
            <a:spLocks noGrp="1"/>
          </p:cNvSpPr>
          <p:nvPr/>
        </p:nvSpPr>
        <p:spPr>
          <a:xfrm>
            <a:off x="9699534" y="1853142"/>
            <a:ext cx="2106197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Vendor</a:t>
            </a:r>
          </a:p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Payments</a:t>
            </a:r>
            <a:endParaRPr sz="24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1" name="Matched Rectangle 1">
            <a:extLst>
              <a:ext uri="{FF2B5EF4-FFF2-40B4-BE49-F238E27FC236}">
                <a16:creationId xmlns:a16="http://schemas.microsoft.com/office/drawing/2014/main" id="{92AFAB3A-D0FC-AE6B-4F2C-FFA899927044}"/>
              </a:ext>
            </a:extLst>
          </p:cNvPr>
          <p:cNvSpPr>
            <a:spLocks noGrp="1"/>
          </p:cNvSpPr>
          <p:nvPr/>
        </p:nvSpPr>
        <p:spPr>
          <a:xfrm>
            <a:off x="3031318" y="4576911"/>
            <a:ext cx="1779342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000" b="1" dirty="0">
                <a:solidFill>
                  <a:srgbClr val="17324D"/>
                </a:solidFill>
                <a:latin typeface="Aptos"/>
              </a:rPr>
              <a:t>“Safe” Amount that can be used but not exceeded</a:t>
            </a:r>
            <a:endParaRPr sz="2000" b="1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2" name="Matched Rectangle 1">
            <a:extLst>
              <a:ext uri="{FF2B5EF4-FFF2-40B4-BE49-F238E27FC236}">
                <a16:creationId xmlns:a16="http://schemas.microsoft.com/office/drawing/2014/main" id="{089A835C-8FD3-27F5-DF25-9A2EEDD824CA}"/>
              </a:ext>
            </a:extLst>
          </p:cNvPr>
          <p:cNvSpPr>
            <a:spLocks noGrp="1"/>
          </p:cNvSpPr>
          <p:nvPr/>
        </p:nvSpPr>
        <p:spPr>
          <a:xfrm>
            <a:off x="5215393" y="4576911"/>
            <a:ext cx="1779343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000" b="1" dirty="0">
                <a:solidFill>
                  <a:srgbClr val="17324D"/>
                </a:solidFill>
                <a:latin typeface="Aptos"/>
              </a:rPr>
              <a:t>Funds in “Wallet” that are available to spend</a:t>
            </a:r>
          </a:p>
        </p:txBody>
      </p:sp>
      <p:sp>
        <p:nvSpPr>
          <p:cNvPr id="23" name="Matched Rectangle 1">
            <a:extLst>
              <a:ext uri="{FF2B5EF4-FFF2-40B4-BE49-F238E27FC236}">
                <a16:creationId xmlns:a16="http://schemas.microsoft.com/office/drawing/2014/main" id="{9841297F-1548-9B1B-C082-7C6CC14A60B2}"/>
              </a:ext>
            </a:extLst>
          </p:cNvPr>
          <p:cNvSpPr>
            <a:spLocks noGrp="1"/>
          </p:cNvSpPr>
          <p:nvPr/>
        </p:nvSpPr>
        <p:spPr>
          <a:xfrm>
            <a:off x="7477343" y="4547508"/>
            <a:ext cx="1779343" cy="1784712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000" b="1" dirty="0">
                <a:solidFill>
                  <a:srgbClr val="17324D"/>
                </a:solidFill>
                <a:latin typeface="Aptos"/>
              </a:rPr>
              <a:t>Funds in ”Cost Pool” that are allocated to approved projects</a:t>
            </a:r>
          </a:p>
        </p:txBody>
      </p:sp>
      <p:sp>
        <p:nvSpPr>
          <p:cNvPr id="24" name="Matched Rectangle 1">
            <a:extLst>
              <a:ext uri="{FF2B5EF4-FFF2-40B4-BE49-F238E27FC236}">
                <a16:creationId xmlns:a16="http://schemas.microsoft.com/office/drawing/2014/main" id="{81FE7B53-1EE1-4661-D48F-3EAA6956EE4C}"/>
              </a:ext>
            </a:extLst>
          </p:cNvPr>
          <p:cNvSpPr>
            <a:spLocks noGrp="1"/>
          </p:cNvSpPr>
          <p:nvPr/>
        </p:nvSpPr>
        <p:spPr>
          <a:xfrm>
            <a:off x="9709686" y="4547508"/>
            <a:ext cx="1779343" cy="1784712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000" b="1" dirty="0">
                <a:solidFill>
                  <a:srgbClr val="17324D"/>
                </a:solidFill>
                <a:latin typeface="Aptos"/>
              </a:rPr>
              <a:t>Payments made from the “Cost Pool”</a:t>
            </a:r>
          </a:p>
        </p:txBody>
      </p:sp>
      <p:sp>
        <p:nvSpPr>
          <p:cNvPr id="25" name="Matched Rectangle 1">
            <a:extLst>
              <a:ext uri="{FF2B5EF4-FFF2-40B4-BE49-F238E27FC236}">
                <a16:creationId xmlns:a16="http://schemas.microsoft.com/office/drawing/2014/main" id="{94C525D6-1B78-867F-386F-3AA985584EA1}"/>
              </a:ext>
            </a:extLst>
          </p:cNvPr>
          <p:cNvSpPr>
            <a:spLocks noGrp="1"/>
          </p:cNvSpPr>
          <p:nvPr/>
        </p:nvSpPr>
        <p:spPr>
          <a:xfrm>
            <a:off x="664927" y="4547508"/>
            <a:ext cx="1779342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000" b="1" dirty="0">
                <a:solidFill>
                  <a:srgbClr val="17324D"/>
                </a:solidFill>
                <a:latin typeface="Aptos"/>
              </a:rPr>
              <a:t>Approved product that has a Product limit assigned</a:t>
            </a:r>
            <a:endParaRPr sz="2000" b="1" dirty="0">
              <a:solidFill>
                <a:srgbClr val="17324D"/>
              </a:solidFill>
              <a:latin typeface="Apto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9D25F3-E85F-FF02-E549-B0DB942E1854}"/>
              </a:ext>
            </a:extLst>
          </p:cNvPr>
          <p:cNvCxnSpPr>
            <a:cxnSpLocks/>
          </p:cNvCxnSpPr>
          <p:nvPr/>
        </p:nvCxnSpPr>
        <p:spPr>
          <a:xfrm>
            <a:off x="9513901" y="3589126"/>
            <a:ext cx="566295" cy="22754"/>
          </a:xfrm>
          <a:prstGeom prst="straightConnector1">
            <a:avLst/>
          </a:prstGeom>
          <a:ln w="60325" cap="sq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85E14E-5EBC-F2E3-BF7E-368FC74B44A1}"/>
              </a:ext>
            </a:extLst>
          </p:cNvPr>
          <p:cNvCxnSpPr>
            <a:cxnSpLocks/>
          </p:cNvCxnSpPr>
          <p:nvPr/>
        </p:nvCxnSpPr>
        <p:spPr>
          <a:xfrm>
            <a:off x="2626753" y="3616339"/>
            <a:ext cx="566295" cy="22754"/>
          </a:xfrm>
          <a:prstGeom prst="straightConnector1">
            <a:avLst/>
          </a:prstGeom>
          <a:ln w="60325" cap="sq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1837C6-99CC-5FA1-3784-03F838BD145A}"/>
              </a:ext>
            </a:extLst>
          </p:cNvPr>
          <p:cNvCxnSpPr>
            <a:cxnSpLocks/>
          </p:cNvCxnSpPr>
          <p:nvPr/>
        </p:nvCxnSpPr>
        <p:spPr>
          <a:xfrm>
            <a:off x="4821424" y="3589126"/>
            <a:ext cx="566295" cy="22754"/>
          </a:xfrm>
          <a:prstGeom prst="straightConnector1">
            <a:avLst/>
          </a:prstGeom>
          <a:ln w="60325" cap="sq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971A5A-6D4A-44B0-8AF0-08180F241A8B}"/>
              </a:ext>
            </a:extLst>
          </p:cNvPr>
          <p:cNvCxnSpPr>
            <a:cxnSpLocks/>
          </p:cNvCxnSpPr>
          <p:nvPr/>
        </p:nvCxnSpPr>
        <p:spPr>
          <a:xfrm>
            <a:off x="6822107" y="3608613"/>
            <a:ext cx="566295" cy="22754"/>
          </a:xfrm>
          <a:prstGeom prst="straightConnector1">
            <a:avLst/>
          </a:prstGeom>
          <a:ln w="60325" cap="sq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12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BC1A5-B73F-E598-3D94-913A923F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6" name="Matched Rectangle 13">
            <a:extLst>
              <a:ext uri="{FF2B5EF4-FFF2-40B4-BE49-F238E27FC236}">
                <a16:creationId xmlns:a16="http://schemas.microsoft.com/office/drawing/2014/main" id="{BB57A088-AE23-3E63-5F3D-34484F4774F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 anchor="t">
            <a:noAutofit/>
          </a:bodyPr>
          <a:lstStyle/>
          <a:p>
            <a:pPr>
              <a:defRPr sz="1050" b="1">
                <a:solidFill>
                  <a:srgbClr val="2D8C8C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2D8C8C"/>
              </a:solidFill>
              <a:latin typeface="Aptos"/>
            </a:endParaRPr>
          </a:p>
        </p:txBody>
      </p:sp>
      <p:sp>
        <p:nvSpPr>
          <p:cNvPr id="100057" name="Matched Rectangle 1">
            <a:extLst>
              <a:ext uri="{FF2B5EF4-FFF2-40B4-BE49-F238E27FC236}">
                <a16:creationId xmlns:a16="http://schemas.microsoft.com/office/drawing/2014/main" id="{48AA8495-2AB2-5C52-33A8-1A48120266EA}"/>
              </a:ext>
            </a:extLst>
          </p:cNvPr>
          <p:cNvSpPr>
            <a:spLocks noGrp="1"/>
          </p:cNvSpPr>
          <p:nvPr/>
        </p:nvSpPr>
        <p:spPr>
          <a:xfrm>
            <a:off x="676656" y="705231"/>
            <a:ext cx="108204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4000" b="0">
                <a:solidFill>
                  <a:srgbClr val="17324D"/>
                </a:solidFill>
                <a:latin typeface="Aptos"/>
              </a:rPr>
              <a:t>Summary</a:t>
            </a:r>
            <a:endParaRPr sz="4000" b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100059" name="Matched Rectangle 3">
            <a:extLst>
              <a:ext uri="{FF2B5EF4-FFF2-40B4-BE49-F238E27FC236}">
                <a16:creationId xmlns:a16="http://schemas.microsoft.com/office/drawing/2014/main" id="{794EEA83-565B-E581-FF0B-91FC86ABFFCE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0820400" cy="1905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29D021-92FE-849C-11E8-DDD69CB2D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t="48777" r="71796" b="12653"/>
          <a:stretch>
            <a:fillRect/>
          </a:stretch>
        </p:blipFill>
        <p:spPr>
          <a:xfrm>
            <a:off x="6351372" y="1743075"/>
            <a:ext cx="3422822" cy="37379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616A8-1F22-E397-0190-5BD6878FE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02" t="50000" r="3679" b="12882"/>
          <a:stretch>
            <a:fillRect/>
          </a:stretch>
        </p:blipFill>
        <p:spPr>
          <a:xfrm>
            <a:off x="1990140" y="1892454"/>
            <a:ext cx="3311609" cy="3588611"/>
          </a:xfrm>
          <a:prstGeom prst="rect">
            <a:avLst/>
          </a:prstGeom>
        </p:spPr>
      </p:pic>
      <p:sp>
        <p:nvSpPr>
          <p:cNvPr id="5" name="Matched Rectangle 1">
            <a:extLst>
              <a:ext uri="{FF2B5EF4-FFF2-40B4-BE49-F238E27FC236}">
                <a16:creationId xmlns:a16="http://schemas.microsoft.com/office/drawing/2014/main" id="{9633257C-DA92-469A-5EDF-0F9E91F8D6C1}"/>
              </a:ext>
            </a:extLst>
          </p:cNvPr>
          <p:cNvSpPr>
            <a:spLocks noGrp="1"/>
          </p:cNvSpPr>
          <p:nvPr/>
        </p:nvSpPr>
        <p:spPr>
          <a:xfrm>
            <a:off x="7009685" y="5624980"/>
            <a:ext cx="2106197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New Model</a:t>
            </a:r>
          </a:p>
        </p:txBody>
      </p:sp>
      <p:sp>
        <p:nvSpPr>
          <p:cNvPr id="6" name="Matched Rectangle 1">
            <a:extLst>
              <a:ext uri="{FF2B5EF4-FFF2-40B4-BE49-F238E27FC236}">
                <a16:creationId xmlns:a16="http://schemas.microsoft.com/office/drawing/2014/main" id="{0F037DC6-C0A1-AF40-6D66-EC5F0344321A}"/>
              </a:ext>
            </a:extLst>
          </p:cNvPr>
          <p:cNvSpPr>
            <a:spLocks noGrp="1"/>
          </p:cNvSpPr>
          <p:nvPr/>
        </p:nvSpPr>
        <p:spPr>
          <a:xfrm>
            <a:off x="2738086" y="5625042"/>
            <a:ext cx="2106197" cy="1232958"/>
          </a:xfrm>
          <a:prstGeom prst="rect">
            <a:avLst/>
          </a:prstGeom>
          <a:noFill/>
          <a:ln w="0">
            <a:noFill/>
          </a:ln>
        </p:spPr>
        <p:txBody>
          <a:bodyPr wrap="square" lIns="27432" tIns="18288" rIns="27432" bIns="18288">
            <a:noAutofit/>
          </a:bodyPr>
          <a:lstStyle/>
          <a:p>
            <a:pPr algn="ctr"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2400" b="1" dirty="0">
                <a:solidFill>
                  <a:srgbClr val="17324D"/>
                </a:solidFill>
                <a:latin typeface="Aptos"/>
              </a:rPr>
              <a:t>Old Model</a:t>
            </a:r>
            <a:endParaRPr sz="2400" b="1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0639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27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0578A-0537-458E-A218-7F967B2A4D67}">
  <we:reference id="cba9fc06-6fc9-492e-9525-923870a3b909" version="2.0.0.1" store="EXCatalog" storeType="EXCatalog"/>
  <we:alternateReferences>
    <we:reference id="WA200010215" version="2.0.0.1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61e6eeb3-5fd7-4aaa-ae3c-61e8deb09b79}" enabled="0" method="" siteId="{61e6eeb3-5fd7-4aaa-ae3c-61e8deb09b7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1092</Words>
  <Application>Microsoft Macintosh PowerPoint</Application>
  <PresentationFormat>Widescreen</PresentationFormat>
  <Paragraphs>290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Aptos Light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Pool Model Training</dc:title>
  <dc:subject>Area Director Training</dc:subject>
  <dc:creator>OpenAI</dc:creator>
  <cp:lastModifiedBy>Rob Jorgenson</cp:lastModifiedBy>
  <cp:revision>3</cp:revision>
  <dcterms:created xsi:type="dcterms:W3CDTF">2026-09-17T16:02:45Z</dcterms:created>
  <dcterms:modified xsi:type="dcterms:W3CDTF">2026-10-13T17:05:24Z</dcterms:modified>
</cp:coreProperties>
</file>